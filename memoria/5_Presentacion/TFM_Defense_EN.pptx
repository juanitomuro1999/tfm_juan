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30d3cc6-0157-d083-a5c0-6fde3a6ce09c}">
          <p14:sldIdLst>
            <p14:sldId id="256"/>
            <p14:sldId id="257"/>
            <p14:sldId id="258"/>
            <p14:sldId id="259"/>
          </p14:sldIdLst>
        </p14:section>
        <p14:section name="System" id="{a90346ac-1990-5e03-1d4b-0f2ee500ab8f}">
          <p14:sldIdLst>
            <p14:sldId id="260"/>
            <p14:sldId id="261"/>
            <p14:sldId id="262"/>
            <p14:sldId id="263"/>
            <p14:sldId id="264"/>
          </p14:sldIdLst>
        </p14:section>
        <p14:section name="Results" id="{aaee9478-7aa2-20f4-5f5c-42e111e69086}">
          <p14:sldIdLst>
            <p14:sldId id="265"/>
            <p14:sldId id="266"/>
            <p14:sldId id="267"/>
          </p14:sldIdLst>
        </p14:section>
        <p14:section name="Closing" id="{1f030f1f-2652-fa13-fc37-b4867a0156de}">
          <p14:sldIdLst>
            <p14:sldId id="268"/>
            <p14:sldId id="269"/>
            <p14:sldId id="270"/>
          </p14:sldIdLst>
        </p14:section>
        <p14:section name="Backup" id="{88877adb-7d99-0011-5774-f98fb6c77ca7}">
          <p14:sldIdLst>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7"/>
                </a:solidFill>
                <a:latin typeface="+mn-lt"/>
              </a:defRPr>
            </a:pPr>
            <a:r>
              <a:rPr sz="1300" b="0" i="0" u="none" strike="noStrike">
                <a:solidFill>
                  <a:srgbClr val="1B2A47"/>
                </a:solidFill>
                <a:latin typeface="+mn-lt"/>
              </a:rPr>
              <a:t>Time with the person detected while moving (8 July)</a:t>
            </a:r>
          </a:p>
        </c:rich>
      </c:tx>
      <c:layout/>
      <c:overlay val="0"/>
    </c:title>
    <c:autoTitleDeleted val="0"/>
    <c:plotArea>
      <c:layout/>
      <c:barChart>
        <c:barDir val="col"/>
        <c:grouping val="clustered"/>
        <c:varyColors val="0"/>
        <c:ser>
          <c:idx val="0"/>
          <c:order val="0"/>
          <c:tx>
            <c:strRef>
              <c:f>Sheet1!$B$1</c:f>
              <c:strCache>
                <c:ptCount val="1"/>
                <c:pt idx="0">
                  <c:v>Detection</c:v>
                </c:pt>
              </c:strCache>
            </c:strRef>
          </c:tx>
          <c:spPr>
            <a:solidFill>
              <a:srgbClr val="6B7A90"/>
            </a:solidFill>
            <a:effectLst/>
          </c:spPr>
          <c:invertIfNegative val="0"/>
          <c:dLbls>
            <c:numFmt formatCode="0&quot;%&quot;" sourceLinked="0"/>
            <c:txPr>
              <a:bodyPr/>
              <a:lstStyle/>
              <a:p>
                <a:pPr>
                  <a:defRPr b="1" i="0" strike="noStrike" sz="1200" u="none">
                    <a:solidFill>
                      <a:srgbClr val="1B2A47"/>
                    </a:solidFill>
                    <a:latin typeface="+mn-lt"/>
                  </a:defRPr>
                </a:pPr>
              </a:p>
            </c:txPr>
            <c:showLegendKey val="0"/>
            <c:showVal val="1"/>
            <c:showCatName val="0"/>
            <c:showSerName val="0"/>
            <c:showPercent val="0"/>
            <c:showBubbleSize val="0"/>
            <c:showLeaderLines val="0"/>
          </c:dLbls>
          <c:dPt>
            <c:idx val="0"/>
            <c:invertIfNegative val="0"/>
            <c:bubble3D val="0"/>
            <c:spPr>
              <a:solidFill>
                <a:srgbClr val="6B7A90"/>
              </a:solidFill>
              <a:effectLst/>
            </c:spPr>
          </c:dPt>
          <c:dPt>
            <c:idx val="1"/>
            <c:invertIfNegative val="0"/>
            <c:bubble3D val="0"/>
            <c:spPr>
              <a:solidFill>
                <a:srgbClr val="5FA8A0"/>
              </a:solidFill>
              <a:effectLst/>
            </c:spPr>
          </c:dPt>
          <c:dPt>
            <c:idx val="2"/>
            <c:invertIfNegative val="0"/>
            <c:bubble3D val="0"/>
            <c:spPr>
              <a:solidFill>
                <a:srgbClr val="0E7A70"/>
              </a:solidFill>
              <a:effectLst/>
            </c:spPr>
          </c:dPt>
          <c:cat>
            <c:multiLvlStrRef>
              <c:f>Sheet1!$A$2:$A$4</c:f>
              <c:multiLvlStrCache>
                <c:ptCount val="3"/>
                <c:lvl>
                  <c:pt idx="0">
                    <c:v>Original</c:v>
                  </c:pt>
                  <c:pt idx="1">
                    <c:v>+ continuity filter</c:v>
                  </c:pt>
                  <c:pt idx="2">
                    <c:v>+ Mahalanobis gate &amp; ωz limit</c:v>
                  </c:pt>
                </c:lvl>
              </c:multiLvlStrCache>
            </c:multiLvlStrRef>
          </c:cat>
          <c:val>
            <c:numRef>
              <c:f>Sheet1!$B$2:$B$4</c:f>
              <c:numCache>
                <c:formatCode>General</c:formatCode>
                <c:ptCount val="3"/>
                <c:pt idx="0">
                  <c:v>32</c:v>
                </c:pt>
                <c:pt idx="1">
                  <c:v>72</c:v>
                </c:pt>
                <c:pt idx="2">
                  <c:v>83</c:v>
                </c:pt>
              </c:numCache>
            </c:numRef>
          </c:val>
        </c:ser>
        <c:dLbls>
          <c:numFmt formatCode="0&quot;%&quot;" sourceLinked="0"/>
          <c:txPr>
            <a:bodyPr/>
            <a:lstStyle/>
            <a:p>
              <a:pPr>
                <a:defRPr b="1" i="0" strike="noStrike" sz="1200" u="none">
                  <a:solidFill>
                    <a:srgbClr val="1B2A4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2A4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Good morning. My name is Juan Muñoz Rovira, and I am going to present my Master's thesis, supervised by Enric Cervera: the second part of a person-following system on a mobile robot.
In short, I took a TurtleBot 2 that could only follow a person and turned it into a small mobile assistant: it understands gestures, builds and uses a map of the lab, navigates on its own, and combines both behaviours in a single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This work starts from a previous Master's thesis by Joaquín Martínez Miralles. His robot detected the person with a 2D LiDAR: it grouped the scan points with DBSCAN, looked for the pattern of two legs, and followed them.
It worked, but it had four clear limitations. It had no map, so no planned navigation was possible. It had no global localization, so once it lost the person it had nothing to reorient itself with. The user had no clear way to start or stop it. And the camera was mounted, but it played no part in the control loop.
Each of these limitations became one of my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The general objective was to turn the follower into a mobile assistant. It breaks down into five specific objectives plus an exploratory one.
Gesture interaction, SLAM mapping, autonomous navigation with Nav2 and LiDAR–camera fusion are completed and validated on the real robot.
User guidance has a validated first step — the "home" gesture, which I will show later. Guidance to several destinations, and the exploratory objective of recognizing rooms with QR codes, remain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The platform is deliberately low-cost. The Kobuki base is a differential drive that provides odometry from its wheel encoders and gyroscope.
The RPLIDAR A2M8 scans 360 degrees at about 10 hertz. It is mounted about 47 centimetres above the floor, so its scan plane cuts people at leg height — that is what the detector exploits, and also, as we will see, its main limitation.
I replaced the original webcam with an SPCA2650 to frame the gestures at the real tracking distance, about one metre.
And everything — drivers, MediaPipe, tracking, SLAM or Nav2 — runs on a single Intel NUC with ROS 2 Jazzy. With everything running, the load is around 30 percent per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The software is a set of independent ROS 2 nodes that communicate only through topics, services and actions.
Follow the path of the data: the LiDAR publishes its scans; detection_node turns them into a position of the person; tracking_node filters that position and computes a velocity. The camera node contributes the gestures and an approximate direction of the person.
The key piece is control_node. It is a state machine, and it is the only node whose output reaches the wheels. At every moment it decides which source drives the base — the tracker, Nav2 or the keyboard — so the robot never receives two contradictory commands.
This arbitration is what later allows tracking and navigation to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The user talks to the robot with three gestures, recognized from the MediaPipe Pose skeleton. Right hand up starts following. Left hand up stops it — or cancels a return home. And both hands joined above the head, like a roof, sends the robot home.
Each gesture must hold for several consecutive frames, and there is a cooldown between commands, to avoid false positives.
I chose the roof because it is symmetric, so it also works when the person has their back to the robot — which is the normal situation while following. In the final session there were no false positives in about four minutes of free gesturing.
[VIDEO 1] Here you can see the three gestures recognized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Detection works in two stages. First, the LiDAR: each scan has 300 to 400 points. They are filtered, interpolated and grouped with DBSCAN, and the clusters are filtered by size, radius and shape to find a pair of legs. I reimplemented DBSCAN on a KD-tree, because scikit-learn's compiled extension was not compatible with the NUC's Python version.
Second, the fusion. When there is no valid leg pair — for example, when the person turns sideways — the camera's bearing is used to choose the LiDAR cluster best aligned with the person. Before this fallback, tracking stopped after 30 seconds without legs.
In the test with the robot not moving, detection was continuous — 100 percent — with a deviation of about 6 degrees between the camera bearing and the chosen cluster. The figure shows a real take: the distance measured over time, and the detected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Detections are noisy and intermittent, so tracking_node keeps a six-state Kalman filter with a constant-acceleration model. A Mahalanobis gate rejects implausible jumps, and a PD controller turns the robot towards the person.
The first test in motion revealed the problem: the person was detected only 32 percent of the time. Three chained fixes — a continuity filter, the Mahalanobis gate and a limit on the angular velocity — raised it to 83 percent, and cut the position jumps from 3.5 to 0.7 percent.
For safety, the tracker watches a ±50-degree frontal sector: it slows down, stops, and, if it stays blocked, performs a short detour manoeuvre. In the first obstacle takes the robot brushed the furniture twice, because the slow-down factor never reached zero. After the fix, there were no more contacts with furniture.
[VIDEO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For the spatial part I used the standard ROS 2 tools instead of reinventing them. SLAM Toolbox built the map of the lab; AMCL localizes the robot on that map; and Nav2 plans and follows the route.
The first test had a surprise: AMCL seemed to freeze. The cause was that my short test commands finished before DDS completed node discovery; with longer commands, it converged without problems.
Then, out of seven goals, six were reached — 86 percent — including two routes of about 8 metres and one with an obstacle that was not on the map, which the local costmap detected and avoided. The only failure happened when I changed the goal mid-route, and Nav2 recovered automatically.
[VIDEO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This is the part that brings everything together: the "home" gesture.
While the robot is following me, I make the roof gesture. control_node stops forwarding the tracker's velocity, sends Nav2 a goal to the home pose, and forwards only Nav2's velocity. When the robot arrives — or if Nav2 fails — it goes back to idle; and with the left hand I can cancel at any moment.
One detail mattered a lot: the disabled tracker keeps publishing zero velocity ten times per second. Forwarding that would have cancelled Nav2. That is why the arbitration is done by state, and not by "the last message wins".
[VIDEO 4] This is the full sequence, about 40 seconds: right hand, following through a turn, the roof, and the autonomous return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In the final lab session, in September, I asked for twelve returns home: one I cancelled on purpose, and eleven real attempts.
Nine were completed — 82 percent — in 15 and a half seconds on average, with a mean arrival error of 27 centimetres and 8 degrees, very close to Nav2's own goal tolerance. Cancelling with the left hand was confirmed by Nav2 in 20 milliseconds.
The map shows the recorded trajectories; the star is the home pose.
The two failures were not caused by the gesture or by the state machine: localization, with an uncertainty of about half a metre, placed the robot inside the safety zone of an obstacle. From there the planner could not find a route, and the robot safely returned to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A word on method, because it shaped the whole project. Every take was recorded as a rosbag on the robot, converted to CSV and analyzed offline, producing the metrics and four standard figures. That is how each fix was checked with numbers, not impressions.
And it was necessary: almost all the relevant bugs — an inverted sign in the PD controller, an inverted avoidance sector, the slow-down factor that never reached zero, the DDS discovery latency — only showed up on the real robot. They would hardly have appeared in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The results also have clear limits. The 2D LiDAR sees a single plane, so it missed the thin legs of a chair. Several results come from small samples: Nav2 and the home gesture were validated in one session each, and all tests were done in one lab.
The natural next steps are: guidance to several destinations, with one gesture or QR code each, which would complete objectives 5 and 6; an exit manoeuvre before re-planning when the robot is localized next to an obstacle; an RGB-D camera or a second LiDAR for obstacles outside the scan plane; and tests with more people and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To conclude. Four of the five specific objectives are completed and validated on the real robot, and the fifth has a working first step.
The contribution is not a new algorithm but the integration: detection, tracking, navigation and gestures on a single robot with limited resources, where control_node lets tracking and Nav2 coexist and the user switches between them with a gesture.
And the main lesson: test on the real robot, and measure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Thank you for your attention. I am happy to answer your questions.
(Backup slides follow: state machine, Nav2 architecture, per-scenario table, obstacle takes, TF tree, planning and cost, use of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the state machine. After INIT the system waits in IDLE. Right hand (with the person detected) → TRACKING; left hand or loss for more than 1.5 s → IDLE. The roof gesture from IDLE or TRACKING → HOMING; arrival, a Nav2 failure or the left hand → IDLE. MANUAL (keyboard teleoperation) and SHUTDOWN (coordinated shutdown) are reached with the Q and P keys from any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how Nav2 is integrated. Sensors → localization (map_server + AMCL, which publishes map→odom) → Nav2 core (bt_navigator with a behavior tree; planner_server with NavFn for the global route; controller_server with DWB for local control; behavior_server for recoveries) → output remapped to /nav2/cmd_vel, which control_node forwards to the base only in HOMING.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tracking quality per scenario. The first straight-line take was contaminated by a residual tracking state; once tracking was de-authorized before each take, it did not recur. Short durations in curve #2 and short #2: the gesture took a while to be recognized. In short #3 the person came within 0.02 m, so saturation was expected. The occlusion caused no real loss thanks to the Kalman prediction and the single-leg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obstacle avoidance. The fault was in the formula: the reduction factor never dropped below 0.4, so the robot detected the obstacle but never fully stopped. The fix computes the factor from the real minimum distance in the frontal sector (1 at 0.40 m, 0 at 0.25 m), plus the detour manoeuvre. The chair contact in v8 is a sensor limitation: the LiDAR scans at ≈ 0.47 m and does not see thin chair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frames. map is the fixed frame; odom is continuous but drifts; base_footprint is attached to the robot (REP-103: x forward, y left, z up); laser is the LiDAR frame. base_footprint→laser is static with a 180° rotation about z, because the LiDAR is mounted rotated. odom→base_footprint comes from the Kobuki driver; map→odom from AMCL (navigation) or SLAM Toolbox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planning or cost. Lab access was limited: sessions from May to July, none in August, a final session in September. Hardware was already in the lab: its cost is attributed by depreciation over five years, five months of use (8.3%). Personnel: 14 ECTS × 25 h ≈ 350 h at €15/h (junior engineer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AI. AI tools were used as technical support: diagnosing ROS 2 errors and logs, code review, rephrasing and style revision of the report, and drawing the figures from the code and the recorded data. Architecture, design decisions, experiments and interpretation of the results are the 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85800" y="914400"/>
            <a:ext cx="676656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MASTER'S THESIS DEFENSE</a:t>
            </a:r>
            <a:endParaRPr lang="en-US" sz="1200" dirty="0"/>
          </a:p>
        </p:txBody>
      </p:sp>
      <p:sp>
        <p:nvSpPr>
          <p:cNvPr id="3" name="Text 1"/>
          <p:cNvSpPr/>
          <p:nvPr/>
        </p:nvSpPr>
        <p:spPr>
          <a:xfrm>
            <a:off x="7863840" y="731520"/>
            <a:ext cx="3749040" cy="5394960"/>
          </a:xfrm>
          <a:prstGeom prst="roundRect">
            <a:avLst>
              <a:gd name="adj" fmla="val 2927"/>
            </a:avLst>
          </a:prstGeom>
          <a:solidFill>
            <a:schemeClr val="accent4"/>
          </a:solidFill>
          <a:ln>
            <a:solidFill>
              <a:schemeClr val="accent4"/>
            </a:solidFill>
          </a:ln>
        </p:spPr>
        <p:txBody>
          <a:bodyPr wrap="square" rtlCol="0" anchor="ctr"/>
          <a:lstStyle/>
          <a:p>
            <a:pPr indent="0" marL="0">
              <a:buNone/>
            </a:pPr>
            <a:endParaRPr lang="en-US" dirty="0"/>
          </a:p>
        </p:txBody>
      </p:sp>
      <p:pic>
        <p:nvPicPr>
          <p:cNvPr id="4" name="Image 0" descr="C:\Users\Juan.munoz\AppData\Local\Temp\claude\C--Users-Juan-munoz-Desktop-Jmr-tfm-memoria\6d0452c8-2f0a-46f5-9e7c-31797a7e3d61\scratchpad\deck\assets\uji_logo_white.png">    </p:cNvPr>
          <p:cNvPicPr>
            <a:picLocks noChangeAspect="1"/>
          </p:cNvPicPr>
          <p:nvPr/>
        </p:nvPicPr>
        <p:blipFill>
          <a:blip r:embed="rId1"/>
          <a:stretch>
            <a:fillRect/>
          </a:stretch>
        </p:blipFill>
        <p:spPr>
          <a:xfrm>
            <a:off x="685800" y="5897880"/>
            <a:ext cx="2103120" cy="402336"/>
          </a:xfrm>
          <a:prstGeom prst="rect">
            <a:avLst/>
          </a:prstGeom>
        </p:spPr>
      </p:pic>
      <p:sp>
        <p:nvSpPr>
          <p:cNvPr id="5" name="Text 2"/>
          <p:cNvSpPr/>
          <p:nvPr>
            <p:ph idx="103" type="title" hasCustomPrompt="1"/>
          </p:nvPr>
        </p:nvSpPr>
        <p:spPr>
          <a:xfrm>
            <a:off x="685800" y="1325880"/>
            <a:ext cx="6858000" cy="22402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Thesis title</a:t>
            </a:r>
            <a:endParaRPr lang="en-US" sz="3400" dirty="0"/>
          </a:p>
        </p:txBody>
      </p:sp>
      <p:sp>
        <p:nvSpPr>
          <p:cNvPr id="6" name="Text 2"/>
          <p:cNvSpPr/>
          <p:nvPr>
            <p:ph idx="104" type="body" hasCustomPrompt="1"/>
          </p:nvPr>
        </p:nvSpPr>
        <p:spPr>
          <a:xfrm>
            <a:off x="685800" y="3703320"/>
            <a:ext cx="6858000" cy="777240"/>
          </a:xfrm>
          <a:prstGeom prst="rect">
            <a:avLst/>
          </a:prstGeom>
          <a:noFill/>
          <a:ln/>
        </p:spPr>
        <p:txBody>
          <a:bodyPr wrap="square" rtlCol="0"/>
          <a:lstStyle>
            <a:lvl1pPr indent="0" marL="0">
              <a:buNone/>
              <a:defRPr lang="en-US" sz="1800" dirty="0">
                <a:solidFill>
                  <a:schemeClr val="accent4"/>
                </a:solidFill>
              </a:defRPr>
            </a:lvl1pPr>
          </a:lstStyle>
          <a:p>
            <a:pPr indent="0" marL="0">
              <a:buNone/>
            </a:pPr>
            <a:r>
              <a:rPr lang="en-US" sz="1800" dirty="0">
                <a:solidFill>
                  <a:schemeClr val="accent4"/>
                </a:solidFill>
              </a:rPr>
              <a:t>Subtitle</a:t>
            </a:r>
            <a:endParaRPr lang="en-US" sz="1800" dirty="0"/>
          </a:p>
        </p:txBody>
      </p:sp>
      <p:sp>
        <p:nvSpPr>
          <p:cNvPr id="7" name="Text 2"/>
          <p:cNvSpPr/>
          <p:nvPr>
            <p:ph idx="105" type="body" hasCustomPrompt="1"/>
          </p:nvPr>
        </p:nvSpPr>
        <p:spPr>
          <a:xfrm>
            <a:off x="685800" y="4526280"/>
            <a:ext cx="6858000" cy="109728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Author · Tutor · Degree</a:t>
            </a:r>
            <a:endParaRPr lang="en-US" sz="1400" dirty="0"/>
          </a:p>
        </p:txBody>
      </p:sp>
      <p:sp>
        <p:nvSpPr>
          <p:cNvPr id="8" name="Text 2"/>
          <p:cNvSpPr/>
          <p:nvPr>
            <p:ph type="pic" idx="106" hasCustomPrompt="1"/>
          </p:nvPr>
        </p:nvSpPr>
        <p:spPr>
          <a:xfrm>
            <a:off x="8001000" y="868680"/>
            <a:ext cx="3474720" cy="5120640"/>
          </a:xfrm>
          <a:prstGeom prst="rect">
            <a:avLst/>
          </a:prstGeom>
          <a:noFill/>
          <a:ln/>
        </p:spPr>
        <p:txBody>
          <a:bodyPr wrap="square" rtlCol="0"/>
          <a:lstStyle>
            <a:lvl1pPr indent="0" marL="0">
              <a:buNone/>
              <a:defRPr lang="en-US" sz="1200" dirty="0">
                <a:solidFill>
                  <a:schemeClr val="tx2"/>
                </a:solidFill>
              </a:defRPr>
            </a:lvl1pPr>
          </a:lstStyle>
          <a:p>
            <a:pPr indent="0" marL="0">
              <a:buNone/>
            </a:pPr>
            <a:r>
              <a:rPr lang="en-US" sz="1200" dirty="0">
                <a:solidFill>
                  <a:schemeClr val="tx2"/>
                </a:solidFill>
              </a:rPr>
              <a:t>Insert a photo of the robot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7772400" cy="256032"/>
          </a:xfrm>
          <a:prstGeom prst="rect">
            <a:avLst/>
          </a:prstGeom>
          <a:noFill/>
          <a:ln/>
        </p:spPr>
        <p:txBody>
          <a:bodyPr wrap="square" lIns="0" tIns="0" rIns="0" bIns="0" rtlCol="0" anchor="ctr"/>
          <a:lstStyle/>
          <a:p>
            <a:pPr indent="0" marL="0">
              <a:buNone/>
            </a:pPr>
            <a:r>
              <a:rPr lang="en-US" sz="900" dirty="0">
                <a:solidFill>
                  <a:schemeClr val="accent6"/>
                </a:solidFill>
              </a:rPr>
              <a:t>Juan Muñoz Rovira  ·  Person-Following Robot – Part 2  ·  Universitat Jaume I</a:t>
            </a:r>
            <a:endParaRPr lang="en-US" sz="900" dirty="0"/>
          </a:p>
        </p:txBody>
      </p:sp>
      <p:pic>
        <p:nvPicPr>
          <p:cNvPr id="3" name="Image 0" descr="C:\Users\Juan.munoz\AppData\Local\Temp\claude\C--Users-Juan-munoz-Desktop-Jmr-tfm-memoria\6d0452c8-2f0a-46f5-9e7c-31797a7e3d61\scratchpad\deck\assets\uji_logo.png">    </p:cNvPr>
          <p:cNvPicPr>
            <a:picLocks noChangeAspect="1"/>
          </p:cNvPicPr>
          <p:nvPr/>
        </p:nvPicPr>
        <p:blipFill>
          <a:blip r:embed="rId1"/>
          <a:stretch>
            <a:fillRect/>
          </a:stretch>
        </p:blipFill>
        <p:spPr>
          <a:xfrm>
            <a:off x="9921240" y="6400800"/>
            <a:ext cx="1152144" cy="219456"/>
          </a:xfrm>
          <a:prstGeom prst="rect">
            <a:avLst/>
          </a:prstGeom>
        </p:spPr>
      </p:pic>
      <p:sp>
        <p:nvSpPr>
          <p:cNvPr id="4" name="Text 1"/>
          <p:cNvSpPr/>
          <p:nvPr>
            <p:ph idx="102" type="title" hasCustomPrompt="1"/>
          </p:nvPr>
        </p:nvSpPr>
        <p:spPr>
          <a:xfrm>
            <a:off x="548640" y="329184"/>
            <a:ext cx="11091672" cy="65836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Slide title</a:t>
            </a:r>
            <a:endParaRPr lang="en-US" sz="2800" dirty="0"/>
          </a:p>
        </p:txBody>
      </p:sp>
      <p:sp>
        <p:nvSpPr>
          <p:cNvPr id="5" name="Text 1"/>
          <p:cNvSpPr/>
          <p:nvPr>
            <p:ph idx="103" type="body" hasCustomPrompt="1"/>
          </p:nvPr>
        </p:nvSpPr>
        <p:spPr>
          <a:xfrm>
            <a:off x="548640" y="1005840"/>
            <a:ext cx="11091672" cy="420624"/>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r>
              <a:rPr lang="en-US" sz="1600" i="1" dirty="0">
                <a:solidFill>
                  <a:schemeClr val="accent1"/>
                </a:solidFill>
              </a:rPr>
              <a:t>Key message of the slide</a:t>
            </a:r>
            <a:endParaRPr lang="en-US" sz="16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IDEO_R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7772400" cy="256032"/>
          </a:xfrm>
          <a:prstGeom prst="rect">
            <a:avLst/>
          </a:prstGeom>
          <a:noFill/>
          <a:ln/>
        </p:spPr>
        <p:txBody>
          <a:bodyPr wrap="square" lIns="0" tIns="0" rIns="0" bIns="0" rtlCol="0" anchor="ctr"/>
          <a:lstStyle/>
          <a:p>
            <a:pPr indent="0" marL="0">
              <a:buNone/>
            </a:pPr>
            <a:r>
              <a:rPr lang="en-US" sz="900" dirty="0">
                <a:solidFill>
                  <a:schemeClr val="accent6"/>
                </a:solidFill>
              </a:rPr>
              <a:t>Juan Muñoz Rovira  ·  Person-Following Robot – Part 2  ·  Universitat Jaume I</a:t>
            </a:r>
            <a:endParaRPr lang="en-US" sz="900" dirty="0"/>
          </a:p>
        </p:txBody>
      </p:sp>
      <p:pic>
        <p:nvPicPr>
          <p:cNvPr id="3" name="Image 0" descr="C:\Users\Juan.munoz\AppData\Local\Temp\claude\C--Users-Juan-munoz-Desktop-Jmr-tfm-memoria\6d0452c8-2f0a-46f5-9e7c-31797a7e3d61\scratchpad\deck\assets\uji_logo.png">    </p:cNvPr>
          <p:cNvPicPr>
            <a:picLocks noChangeAspect="1"/>
          </p:cNvPicPr>
          <p:nvPr/>
        </p:nvPicPr>
        <p:blipFill>
          <a:blip r:embed="rId1"/>
          <a:stretch>
            <a:fillRect/>
          </a:stretch>
        </p:blipFill>
        <p:spPr>
          <a:xfrm>
            <a:off x="9921240" y="6400800"/>
            <a:ext cx="1152144" cy="219456"/>
          </a:xfrm>
          <a:prstGeom prst="rect">
            <a:avLst/>
          </a:prstGeom>
        </p:spPr>
      </p:pic>
      <p:sp>
        <p:nvSpPr>
          <p:cNvPr id="4" name="Text 1"/>
          <p:cNvSpPr/>
          <p:nvPr/>
        </p:nvSpPr>
        <p:spPr>
          <a:xfrm>
            <a:off x="6263640" y="1691640"/>
            <a:ext cx="5376672" cy="3026664"/>
          </a:xfrm>
          <a:prstGeom prst="roundRect">
            <a:avLst>
              <a:gd name="adj" fmla="val 2417"/>
            </a:avLst>
          </a:prstGeom>
          <a:solidFill>
            <a:schemeClr val="tx2"/>
          </a:solidFill>
          <a:ln>
            <a:solidFill>
              <a:schemeClr val="tx2"/>
            </a:solidFill>
          </a:ln>
        </p:spPr>
        <p:txBody>
          <a:bodyPr wrap="square" rtlCol="0" anchor="ctr"/>
          <a:lstStyle/>
          <a:p>
            <a:pPr indent="0" marL="0">
              <a:buNone/>
            </a:pPr>
            <a:endParaRPr lang="en-US" dirty="0"/>
          </a:p>
        </p:txBody>
      </p:sp>
      <p:sp>
        <p:nvSpPr>
          <p:cNvPr id="5" name="Text 2"/>
          <p:cNvSpPr/>
          <p:nvPr>
            <p:ph idx="103" type="media" hasCustomPrompt="1"/>
          </p:nvPr>
        </p:nvSpPr>
        <p:spPr>
          <a:xfrm>
            <a:off x="6263640" y="1691640"/>
            <a:ext cx="5376672" cy="3026664"/>
          </a:xfrm>
          <a:prstGeom prst="rect">
            <a:avLst/>
          </a:prstGeom>
          <a:noFill/>
          <a:ln/>
        </p:spPr>
        <p:txBody>
          <a:bodyPr wrap="square" rtlCol="0"/>
          <a:lstStyle>
            <a:lvl1pPr algn="ctr" indent="0" marL="0">
              <a:buNone/>
              <a:defRPr lang="en-US" sz="1200" dirty="0">
                <a:solidFill>
                  <a:schemeClr val="bg1"/>
                </a:solidFill>
              </a:defRPr>
            </a:lvl1pPr>
          </a:lstStyle>
          <a:p>
            <a:pPr algn="ctr" indent="0" marL="0">
              <a:buNone/>
            </a:pPr>
            <a:r>
              <a:rPr lang="en-US" sz="1200" dirty="0">
                <a:solidFill>
                  <a:schemeClr val="bg1"/>
                </a:solidFill>
              </a:rPr>
              <a:t>Click the icon to insert the video</a:t>
            </a:r>
            <a:endParaRPr lang="en-US" sz="1200" dirty="0"/>
          </a:p>
        </p:txBody>
      </p:sp>
      <p:sp>
        <p:nvSpPr>
          <p:cNvPr id="6" name="Text 2"/>
          <p:cNvSpPr/>
          <p:nvPr>
            <p:ph idx="104" type="title" hasCustomPrompt="1"/>
          </p:nvPr>
        </p:nvSpPr>
        <p:spPr>
          <a:xfrm>
            <a:off x="548640" y="329184"/>
            <a:ext cx="11091672" cy="65836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Slide title</a:t>
            </a:r>
            <a:endParaRPr lang="en-US" sz="2800" dirty="0"/>
          </a:p>
        </p:txBody>
      </p:sp>
      <p:sp>
        <p:nvSpPr>
          <p:cNvPr id="7" name="Text 2"/>
          <p:cNvSpPr/>
          <p:nvPr>
            <p:ph idx="105" type="body" hasCustomPrompt="1"/>
          </p:nvPr>
        </p:nvSpPr>
        <p:spPr>
          <a:xfrm>
            <a:off x="548640" y="1005840"/>
            <a:ext cx="11091672" cy="420624"/>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r>
              <a:rPr lang="en-US" sz="1600" i="1" dirty="0">
                <a:solidFill>
                  <a:schemeClr val="accent1"/>
                </a:solidFill>
              </a:rPr>
              <a:t>Key message of the slide</a:t>
            </a:r>
            <a:endParaRPr lang="en-US" sz="16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IDEO_HER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7772400" cy="256032"/>
          </a:xfrm>
          <a:prstGeom prst="rect">
            <a:avLst/>
          </a:prstGeom>
          <a:noFill/>
          <a:ln/>
        </p:spPr>
        <p:txBody>
          <a:bodyPr wrap="square" lIns="0" tIns="0" rIns="0" bIns="0" rtlCol="0" anchor="ctr"/>
          <a:lstStyle/>
          <a:p>
            <a:pPr indent="0" marL="0">
              <a:buNone/>
            </a:pPr>
            <a:r>
              <a:rPr lang="en-US" sz="900" dirty="0">
                <a:solidFill>
                  <a:schemeClr val="accent6"/>
                </a:solidFill>
              </a:rPr>
              <a:t>Juan Muñoz Rovira  ·  Person-Following Robot – Part 2  ·  Universitat Jaume I</a:t>
            </a:r>
            <a:endParaRPr lang="en-US" sz="900" dirty="0"/>
          </a:p>
        </p:txBody>
      </p:sp>
      <p:pic>
        <p:nvPicPr>
          <p:cNvPr id="3" name="Image 0" descr="C:\Users\Juan.munoz\AppData\Local\Temp\claude\C--Users-Juan-munoz-Desktop-Jmr-tfm-memoria\6d0452c8-2f0a-46f5-9e7c-31797a7e3d61\scratchpad\deck\assets\uji_logo.png">    </p:cNvPr>
          <p:cNvPicPr>
            <a:picLocks noChangeAspect="1"/>
          </p:cNvPicPr>
          <p:nvPr/>
        </p:nvPicPr>
        <p:blipFill>
          <a:blip r:embed="rId1"/>
          <a:stretch>
            <a:fillRect/>
          </a:stretch>
        </p:blipFill>
        <p:spPr>
          <a:xfrm>
            <a:off x="9921240" y="6400800"/>
            <a:ext cx="1152144" cy="219456"/>
          </a:xfrm>
          <a:prstGeom prst="rect">
            <a:avLst/>
          </a:prstGeom>
        </p:spPr>
      </p:pic>
      <p:sp>
        <p:nvSpPr>
          <p:cNvPr id="4" name="Text 1"/>
          <p:cNvSpPr/>
          <p:nvPr/>
        </p:nvSpPr>
        <p:spPr>
          <a:xfrm>
            <a:off x="548640" y="1645920"/>
            <a:ext cx="7132320" cy="4014216"/>
          </a:xfrm>
          <a:prstGeom prst="roundRect">
            <a:avLst>
              <a:gd name="adj" fmla="val 1822"/>
            </a:avLst>
          </a:prstGeom>
          <a:solidFill>
            <a:schemeClr val="tx2"/>
          </a:solidFill>
          <a:ln>
            <a:solidFill>
              <a:schemeClr val="tx2"/>
            </a:solidFill>
          </a:ln>
        </p:spPr>
        <p:txBody>
          <a:bodyPr wrap="square" rtlCol="0" anchor="ctr"/>
          <a:lstStyle/>
          <a:p>
            <a:pPr indent="0" marL="0">
              <a:buNone/>
            </a:pPr>
            <a:endParaRPr lang="en-US" dirty="0"/>
          </a:p>
        </p:txBody>
      </p:sp>
      <p:sp>
        <p:nvSpPr>
          <p:cNvPr id="5" name="Text 2"/>
          <p:cNvSpPr/>
          <p:nvPr>
            <p:ph idx="103" type="media" hasCustomPrompt="1"/>
          </p:nvPr>
        </p:nvSpPr>
        <p:spPr>
          <a:xfrm>
            <a:off x="548640" y="1645920"/>
            <a:ext cx="7132320" cy="4014216"/>
          </a:xfrm>
          <a:prstGeom prst="rect">
            <a:avLst/>
          </a:prstGeom>
          <a:noFill/>
          <a:ln/>
        </p:spPr>
        <p:txBody>
          <a:bodyPr wrap="square" rtlCol="0"/>
          <a:lstStyle>
            <a:lvl1pPr algn="ctr" indent="0" marL="0">
              <a:buNone/>
              <a:defRPr lang="en-US" sz="1200" dirty="0">
                <a:solidFill>
                  <a:schemeClr val="bg1"/>
                </a:solidFill>
              </a:defRPr>
            </a:lvl1pPr>
          </a:lstStyle>
          <a:p>
            <a:pPr algn="ctr" indent="0" marL="0">
              <a:buNone/>
            </a:pPr>
            <a:r>
              <a:rPr lang="en-US" sz="1200" dirty="0">
                <a:solidFill>
                  <a:schemeClr val="bg1"/>
                </a:solidFill>
              </a:rPr>
              <a:t>Click the icon to insert the video</a:t>
            </a:r>
            <a:endParaRPr lang="en-US" sz="1200" dirty="0"/>
          </a:p>
        </p:txBody>
      </p:sp>
      <p:sp>
        <p:nvSpPr>
          <p:cNvPr id="6" name="Text 2"/>
          <p:cNvSpPr/>
          <p:nvPr>
            <p:ph idx="104" type="title" hasCustomPrompt="1"/>
          </p:nvPr>
        </p:nvSpPr>
        <p:spPr>
          <a:xfrm>
            <a:off x="548640" y="329184"/>
            <a:ext cx="11091672" cy="65836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Slide title</a:t>
            </a:r>
            <a:endParaRPr lang="en-US" sz="2800" dirty="0"/>
          </a:p>
        </p:txBody>
      </p:sp>
      <p:sp>
        <p:nvSpPr>
          <p:cNvPr id="7" name="Text 2"/>
          <p:cNvSpPr/>
          <p:nvPr>
            <p:ph idx="105" type="body" hasCustomPrompt="1"/>
          </p:nvPr>
        </p:nvSpPr>
        <p:spPr>
          <a:xfrm>
            <a:off x="548640" y="1005840"/>
            <a:ext cx="11091672" cy="420624"/>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r>
              <a:rPr lang="en-US" sz="1600" i="1" dirty="0">
                <a:solidFill>
                  <a:schemeClr val="accent1"/>
                </a:solidFill>
              </a:rPr>
              <a:t>Key message of the slide</a:t>
            </a:r>
            <a:endParaRPr lang="en-US" sz="16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ACKUP">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7772400" cy="256032"/>
          </a:xfrm>
          <a:prstGeom prst="rect">
            <a:avLst/>
          </a:prstGeom>
          <a:noFill/>
          <a:ln/>
        </p:spPr>
        <p:txBody>
          <a:bodyPr wrap="square" lIns="0" tIns="0" rIns="0" bIns="0" rtlCol="0" anchor="ctr"/>
          <a:lstStyle/>
          <a:p>
            <a:pPr indent="0" marL="0">
              <a:buNone/>
            </a:pPr>
            <a:r>
              <a:rPr lang="en-US" sz="900" dirty="0">
                <a:solidFill>
                  <a:schemeClr val="accent6"/>
                </a:solidFill>
              </a:rPr>
              <a:t>Juan Muñoz Rovira  ·  Person-Following Robot – Part 2  ·  Universitat Jaume I</a:t>
            </a:r>
            <a:endParaRPr lang="en-US" sz="900" dirty="0"/>
          </a:p>
        </p:txBody>
      </p:sp>
      <p:pic>
        <p:nvPicPr>
          <p:cNvPr id="3" name="Image 0" descr="C:\Users\Juan.munoz\AppData\Local\Temp\claude\C--Users-Juan-munoz-Desktop-Jmr-tfm-memoria\6d0452c8-2f0a-46f5-9e7c-31797a7e3d61\scratchpad\deck\assets\uji_logo.png">    </p:cNvPr>
          <p:cNvPicPr>
            <a:picLocks noChangeAspect="1"/>
          </p:cNvPicPr>
          <p:nvPr/>
        </p:nvPicPr>
        <p:blipFill>
          <a:blip r:embed="rId1"/>
          <a:stretch>
            <a:fillRect/>
          </a:stretch>
        </p:blipFill>
        <p:spPr>
          <a:xfrm>
            <a:off x="9921240" y="6400800"/>
            <a:ext cx="1152144" cy="219456"/>
          </a:xfrm>
          <a:prstGeom prst="rect">
            <a:avLst/>
          </a:prstGeom>
        </p:spPr>
      </p:pic>
      <p:sp>
        <p:nvSpPr>
          <p:cNvPr id="4" name="Text 1"/>
          <p:cNvSpPr/>
          <p:nvPr/>
        </p:nvSpPr>
        <p:spPr>
          <a:xfrm>
            <a:off x="10652760" y="457200"/>
            <a:ext cx="987552" cy="329184"/>
          </a:xfrm>
          <a:prstGeom prst="roundRect">
            <a:avLst>
              <a:gd name="adj" fmla="val 22222"/>
            </a:avLst>
          </a:prstGeom>
          <a:solidFill>
            <a:schemeClr val="accent3"/>
          </a:solidFill>
          <a:ln>
            <a:solidFill>
              <a:schemeClr val="accent3"/>
            </a:solidFill>
          </a:ln>
        </p:spPr>
        <p:txBody>
          <a:bodyPr wrap="square" lIns="0" tIns="0" rIns="0" bIns="0" rtlCol="0" anchor="ctr"/>
          <a:lstStyle/>
          <a:p>
            <a:pPr algn="ctr" indent="0" marL="0">
              <a:buNone/>
            </a:pPr>
            <a:r>
              <a:rPr lang="en-US" sz="1000" b="1" spc="200" kern="0" dirty="0">
                <a:solidFill>
                  <a:schemeClr val="tx2"/>
                </a:solidFill>
              </a:rPr>
              <a:t>BACKUP</a:t>
            </a:r>
            <a:endParaRPr lang="en-US" sz="1000" dirty="0"/>
          </a:p>
        </p:txBody>
      </p:sp>
      <p:sp>
        <p:nvSpPr>
          <p:cNvPr id="5" name="Text 2"/>
          <p:cNvSpPr/>
          <p:nvPr>
            <p:ph idx="103" type="title" hasCustomPrompt="1"/>
          </p:nvPr>
        </p:nvSpPr>
        <p:spPr>
          <a:xfrm>
            <a:off x="548640" y="329184"/>
            <a:ext cx="11091672" cy="65836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Slide title</a:t>
            </a:r>
            <a:endParaRPr lang="en-US" sz="2800" dirty="0"/>
          </a:p>
        </p:txBody>
      </p:sp>
      <p:sp>
        <p:nvSpPr>
          <p:cNvPr id="6" name="Text 2"/>
          <p:cNvSpPr/>
          <p:nvPr>
            <p:ph idx="104" type="body" hasCustomPrompt="1"/>
          </p:nvPr>
        </p:nvSpPr>
        <p:spPr>
          <a:xfrm>
            <a:off x="548640" y="1005840"/>
            <a:ext cx="11091672" cy="420624"/>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r>
              <a:rPr lang="en-US" sz="1600" i="1" dirty="0">
                <a:solidFill>
                  <a:schemeClr val="accent1"/>
                </a:solidFill>
              </a:rPr>
              <a:t>Key message of the slide</a:t>
            </a:r>
            <a:endParaRPr lang="en-US" sz="16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pic>
        <p:nvPicPr>
          <p:cNvPr id="2" name="Image 0" descr="C:\Users\Juan.munoz\AppData\Local\Temp\claude\C--Users-Juan-munoz-Desktop-Jmr-tfm-memoria\6d0452c8-2f0a-46f5-9e7c-31797a7e3d61\scratchpad\deck\assets\uji_logo_white.png">    </p:cNvPr>
          <p:cNvPicPr>
            <a:picLocks noChangeAspect="1"/>
          </p:cNvPicPr>
          <p:nvPr/>
        </p:nvPicPr>
        <p:blipFill>
          <a:blip r:embed="rId1"/>
          <a:stretch>
            <a:fillRect/>
          </a:stretch>
        </p:blipFill>
        <p:spPr>
          <a:xfrm>
            <a:off x="5047488" y="5806440"/>
            <a:ext cx="2103120" cy="402336"/>
          </a:xfrm>
          <a:prstGeom prst="rect">
            <a:avLst/>
          </a:prstGeom>
        </p:spPr>
      </p:pic>
      <p:sp>
        <p:nvSpPr>
          <p:cNvPr id="3" name="Text 0"/>
          <p:cNvSpPr/>
          <p:nvPr>
            <p:ph idx="101" type="title" hasCustomPrompt="1"/>
          </p:nvPr>
        </p:nvSpPr>
        <p:spPr>
          <a:xfrm>
            <a:off x="685800" y="1828800"/>
            <a:ext cx="10817352" cy="1280160"/>
          </a:xfrm>
          <a:prstGeom prst="rect">
            <a:avLst/>
          </a:prstGeom>
          <a:noFill/>
          <a:ln/>
        </p:spPr>
        <p:txBody>
          <a:bodyPr wrap="square" rtlCol="0"/>
          <a:lstStyle>
            <a:lvl1pPr algn="ctr" indent="0" marL="0">
              <a:buNone/>
              <a:defRPr lang="en-US" sz="4800" b="1" dirty="0">
                <a:solidFill>
                  <a:schemeClr val="bg1"/>
                </a:solidFill>
              </a:defRPr>
            </a:lvl1pPr>
          </a:lstStyle>
          <a:p>
            <a:pPr algn="ctr" indent="0" marL="0">
              <a:buNone/>
            </a:pPr>
            <a:r>
              <a:rPr lang="en-US" sz="4800" b="1" dirty="0">
                <a:solidFill>
                  <a:schemeClr val="bg1"/>
                </a:solidFill>
              </a:rPr>
              <a:t>Closing title</a:t>
            </a:r>
            <a:endParaRPr lang="en-US" sz="4800" dirty="0"/>
          </a:p>
        </p:txBody>
      </p:sp>
      <p:sp>
        <p:nvSpPr>
          <p:cNvPr id="4" name="Text 0"/>
          <p:cNvSpPr/>
          <p:nvPr>
            <p:ph idx="102" type="body" hasCustomPrompt="1"/>
          </p:nvPr>
        </p:nvSpPr>
        <p:spPr>
          <a:xfrm>
            <a:off x="685800" y="3246120"/>
            <a:ext cx="10817352" cy="640080"/>
          </a:xfrm>
          <a:prstGeom prst="rect">
            <a:avLst/>
          </a:prstGeom>
          <a:noFill/>
          <a:ln/>
        </p:spPr>
        <p:txBody>
          <a:bodyPr wrap="square" rtlCol="0"/>
          <a:lstStyle>
            <a:lvl1pPr algn="ctr" indent="0" marL="0">
              <a:buNone/>
              <a:defRPr lang="en-US" sz="2200" dirty="0">
                <a:solidFill>
                  <a:schemeClr val="accent4"/>
                </a:solidFill>
              </a:defRPr>
            </a:lvl1pPr>
          </a:lstStyle>
          <a:p>
            <a:pPr algn="ctr" indent="0" marL="0">
              <a:buNone/>
            </a:pPr>
            <a:r>
              <a:rPr lang="en-US" sz="2200" dirty="0">
                <a:solidFill>
                  <a:schemeClr val="accent4"/>
                </a:solidFill>
              </a:rPr>
              <a:t>Subtitle</a:t>
            </a:r>
            <a:endParaRPr lang="en-US" sz="2200" dirty="0"/>
          </a:p>
        </p:txBody>
      </p:sp>
      <p:sp>
        <p:nvSpPr>
          <p:cNvPr id="5" name="Text 0"/>
          <p:cNvSpPr/>
          <p:nvPr>
            <p:ph idx="103" type="body" hasCustomPrompt="1"/>
          </p:nvPr>
        </p:nvSpPr>
        <p:spPr>
          <a:xfrm>
            <a:off x="685800" y="4206240"/>
            <a:ext cx="10817352" cy="914400"/>
          </a:xfrm>
          <a:prstGeom prst="rect">
            <a:avLst/>
          </a:prstGeom>
          <a:noFill/>
          <a:ln/>
        </p:spPr>
        <p:txBody>
          <a:bodyPr wrap="square" rtlCol="0"/>
          <a:lstStyle>
            <a:lvl1pPr algn="ctr" indent="0" marL="0">
              <a:buNone/>
              <a:defRPr lang="en-US" sz="1400" dirty="0">
                <a:solidFill>
                  <a:schemeClr val="bg1"/>
                </a:solidFill>
              </a:defRPr>
            </a:lvl1pPr>
          </a:lstStyle>
          <a:p>
            <a:pPr algn="ctr" indent="0" marL="0">
              <a:buNone/>
            </a:pPr>
            <a:r>
              <a:rPr lang="en-US" sz="1400" dirty="0">
                <a:solidFill>
                  <a:schemeClr val="bg1"/>
                </a:solidFill>
              </a:rPr>
              <a:t>Contact / repository</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6.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fallback icon" descr="preencoded.png">    </p:cNvPr>
          <p:cNvPicPr>
            <a:picLocks noChangeAspect="1"/>
          </p:cNvPicPr>
          <p:nvPr/>
        </p:nvPicPr>
        <p:blipFill>
          <a:blip r:embed="rId1">
            <a:alphaModFix amt="30000"/>
          </a:blip>
          <a:stretch>
            <a:fillRect/>
          </a:stretch>
        </p:blipFill>
        <p:spPr>
          <a:xfrm>
            <a:off x="9052560" y="2697480"/>
            <a:ext cx="1371600" cy="1371600"/>
          </a:xfrm>
          <a:prstGeom prst="rect">
            <a:avLst/>
          </a:prstGeom>
        </p:spPr>
      </p:pic>
      <p:sp>
        <p:nvSpPr>
          <p:cNvPr id="3" name="Text 2"/>
          <p:cNvSpPr/>
          <p:nvPr>
            <p:ph idx="103" type="title" hasCustomPrompt="1"/>
          </p:nvPr>
        </p:nvSpPr>
        <p:spPr>
          <a:xfrm>
            <a:off x="685800" y="1325880"/>
            <a:ext cx="6858000" cy="2240280"/>
          </a:xfrm>
          <a:prstGeom prst="rect">
            <a:avLst/>
          </a:prstGeom>
          <a:noFill/>
          <a:ln/>
        </p:spPr>
        <p:txBody>
          <a:bodyPr wrap="square" lIns="0" tIns="0" rIns="0" bIns="0" rtlCol="0" anchor="b"/>
          <a:lstStyle/>
          <a:p>
            <a:pPr algn="l" indent="0" marL="0">
              <a:buNone/>
            </a:pPr>
            <a:r>
              <a:rPr lang="en-US" sz="3400" b="1" dirty="0">
                <a:solidFill>
                  <a:schemeClr val="bg1"/>
                </a:solidFill>
              </a:rPr>
              <a:t>Development and Implementation of a Person-Following System on a Mobile Robot – Part 2 Extension</a:t>
            </a:r>
            <a:endParaRPr lang="en-US" sz="3400" dirty="0"/>
          </a:p>
        </p:txBody>
      </p:sp>
      <p:sp>
        <p:nvSpPr>
          <p:cNvPr id="4" name="Text 2"/>
          <p:cNvSpPr/>
          <p:nvPr>
            <p:ph idx="104" type="body" hasCustomPrompt="1"/>
          </p:nvPr>
        </p:nvSpPr>
        <p:spPr>
          <a:xfrm>
            <a:off x="685800" y="3703320"/>
            <a:ext cx="6858000" cy="777240"/>
          </a:xfrm>
          <a:prstGeom prst="rect">
            <a:avLst/>
          </a:prstGeom>
          <a:noFill/>
          <a:ln/>
        </p:spPr>
        <p:txBody>
          <a:bodyPr wrap="square" lIns="0" tIns="0" rIns="0" bIns="0" rtlCol="0" anchor="t"/>
          <a:lstStyle/>
          <a:p>
            <a:pPr indent="0" marL="0">
              <a:buNone/>
            </a:pPr>
            <a:r>
              <a:rPr lang="en-US" sz="1800" dirty="0">
                <a:solidFill>
                  <a:schemeClr val="accent4"/>
                </a:solidFill>
              </a:rPr>
              <a:t>Gesture interaction, SLAM mapping and autonomous navigation on a TurtleBot 2</a:t>
            </a:r>
            <a:endParaRPr lang="en-US" sz="1800" dirty="0"/>
          </a:p>
        </p:txBody>
      </p:sp>
      <p:sp>
        <p:nvSpPr>
          <p:cNvPr id="5" name="Text 2"/>
          <p:cNvSpPr/>
          <p:nvPr>
            <p:ph idx="105" type="body" hasCustomPrompt="1"/>
          </p:nvPr>
        </p:nvSpPr>
        <p:spPr>
          <a:xfrm>
            <a:off x="685800" y="4526280"/>
            <a:ext cx="6858000" cy="1097280"/>
          </a:xfrm>
          <a:prstGeom prst="rect">
            <a:avLst/>
          </a:prstGeom>
          <a:noFill/>
          <a:ln/>
        </p:spPr>
        <p:txBody>
          <a:bodyPr wrap="square" lIns="0" tIns="0" rIns="0" bIns="0" rtlCol="0" anchor="t"/>
          <a:lstStyle/>
          <a:p>
            <a:pPr indent="0" marL="0">
              <a:buNone/>
            </a:pPr>
            <a:r>
              <a:rPr lang="en-US" sz="1400" b="1" dirty="0">
                <a:solidFill>
                  <a:schemeClr val="bg1"/>
                </a:solidFill>
              </a:rPr>
              <a:t>Juan Muñoz Rovira</a:t>
            </a:r>
            <a:endParaRPr lang="en-US" sz="1400" dirty="0"/>
          </a:p>
          <a:p>
            <a:pPr indent="0" marL="0">
              <a:buNone/>
            </a:pPr>
            <a:r>
              <a:rPr lang="en-US" sz="1400" dirty="0">
                <a:solidFill>
                  <a:schemeClr val="bg1"/>
                </a:solidFill>
              </a:rPr>
              <a:t>Academic tutor: Enric Cervera Mateu</a:t>
            </a:r>
            <a:endParaRPr lang="en-US" sz="1400" dirty="0"/>
          </a:p>
          <a:p>
            <a:pPr indent="0" marL="0">
              <a:buNone/>
            </a:pPr>
            <a:r>
              <a:rPr lang="en-US" sz="1400" dirty="0">
                <a:solidFill>
                  <a:schemeClr val="bg1"/>
                </a:solidFill>
              </a:rPr>
              <a:t>Master's Degree in Intelligent Systems · Universitat Jaume I · 2026</a:t>
            </a:r>
            <a:endParaRPr lang="en-US" sz="1400" dirty="0"/>
          </a:p>
        </p:txBody>
      </p:sp>
      <p:sp>
        <p:nvSpPr>
          <p:cNvPr id="6" name="Text 2"/>
          <p:cNvSpPr/>
          <p:nvPr>
            <p:ph type="pic" idx="106" hasCustomPrompt="1"/>
          </p:nvPr>
        </p:nvSpPr>
        <p:spPr>
          <a:xfrm>
            <a:off x="8001000" y="868680"/>
            <a:ext cx="3474720" cy="5120640"/>
          </a:xfrm>
          <a:prstGeom prst="rect">
            <a:avLst/>
          </a:prstGeom>
          <a:noFill/>
          <a:ln/>
        </p:spPr>
        <p:txBody>
          <a:bodyPr wrap="square" rtlCol="0"/>
          <a:lstStyle/>
          <a:p>
            <a:pPr indent="0" marL="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Where this work starts</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Part 1 (Martínez Miralles, 2025) left a robot that could follow a person’s legs — and little else.</a:t>
            </a:r>
            <a:endParaRPr lang="en-US" sz="1600" dirty="0"/>
          </a:p>
        </p:txBody>
      </p:sp>
      <p:sp>
        <p:nvSpPr>
          <p:cNvPr id="4" name="Text 2"/>
          <p:cNvSpPr txBox="1"/>
          <p:nvPr/>
        </p:nvSpPr>
        <p:spPr>
          <a:xfrm>
            <a:off x="548640" y="1737360"/>
            <a:ext cx="420624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PART 1 PIPELINE</a:t>
            </a:r>
            <a:endParaRPr lang="en-US" sz="1100" dirty="0"/>
          </a:p>
        </p:txBody>
      </p:sp>
      <p:sp>
        <p:nvSpPr>
          <p:cNvPr id="5" name="Text 3"/>
          <p:cNvSpPr/>
          <p:nvPr/>
        </p:nvSpPr>
        <p:spPr>
          <a:xfrm>
            <a:off x="548640" y="2148840"/>
            <a:ext cx="4023360" cy="640080"/>
          </a:xfrm>
          <a:prstGeom prst="roundRect">
            <a:avLst>
              <a:gd name="adj" fmla="val 11429"/>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500" dirty="0">
                <a:solidFill>
                  <a:schemeClr val="tx2"/>
                </a:solidFill>
              </a:rPr>
              <a:t>2D LiDAR scan</a:t>
            </a:r>
            <a:endParaRPr lang="en-US" sz="1500" dirty="0"/>
          </a:p>
        </p:txBody>
      </p:sp>
      <p:sp>
        <p:nvSpPr>
          <p:cNvPr id="6" name="Shape 4"/>
          <p:cNvSpPr/>
          <p:nvPr/>
        </p:nvSpPr>
        <p:spPr>
          <a:xfrm>
            <a:off x="2560320" y="2807208"/>
            <a:ext cx="0" cy="283464"/>
          </a:xfrm>
          <a:prstGeom prst="line">
            <a:avLst/>
          </a:prstGeom>
          <a:noFill/>
          <a:ln w="19050">
            <a:solidFill>
              <a:schemeClr val="accent6"/>
            </a:solidFill>
            <a:prstDash val="solid"/>
            <a:tailEnd type="triangle"/>
          </a:ln>
        </p:spPr>
      </p:sp>
      <p:sp>
        <p:nvSpPr>
          <p:cNvPr id="7" name="Text 5"/>
          <p:cNvSpPr/>
          <p:nvPr/>
        </p:nvSpPr>
        <p:spPr>
          <a:xfrm>
            <a:off x="548640" y="3108960"/>
            <a:ext cx="4023360" cy="640080"/>
          </a:xfrm>
          <a:prstGeom prst="roundRect">
            <a:avLst>
              <a:gd name="adj" fmla="val 11429"/>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500" dirty="0">
                <a:solidFill>
                  <a:schemeClr val="tx2"/>
                </a:solidFill>
              </a:rPr>
              <a:t>DBSCAN clustering</a:t>
            </a:r>
            <a:endParaRPr lang="en-US" sz="1500" dirty="0"/>
          </a:p>
        </p:txBody>
      </p:sp>
      <p:sp>
        <p:nvSpPr>
          <p:cNvPr id="8" name="Shape 6"/>
          <p:cNvSpPr/>
          <p:nvPr/>
        </p:nvSpPr>
        <p:spPr>
          <a:xfrm>
            <a:off x="2560320" y="3767328"/>
            <a:ext cx="0" cy="283464"/>
          </a:xfrm>
          <a:prstGeom prst="line">
            <a:avLst/>
          </a:prstGeom>
          <a:noFill/>
          <a:ln w="19050">
            <a:solidFill>
              <a:schemeClr val="accent6"/>
            </a:solidFill>
            <a:prstDash val="solid"/>
            <a:tailEnd type="triangle"/>
          </a:ln>
        </p:spPr>
      </p:sp>
      <p:sp>
        <p:nvSpPr>
          <p:cNvPr id="9" name="Text 7"/>
          <p:cNvSpPr/>
          <p:nvPr/>
        </p:nvSpPr>
        <p:spPr>
          <a:xfrm>
            <a:off x="548640" y="4069080"/>
            <a:ext cx="4023360" cy="640080"/>
          </a:xfrm>
          <a:prstGeom prst="roundRect">
            <a:avLst>
              <a:gd name="adj" fmla="val 11429"/>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500" dirty="0">
                <a:solidFill>
                  <a:schemeClr val="tx2"/>
                </a:solidFill>
              </a:rPr>
              <a:t>Leg-pair pattern</a:t>
            </a:r>
            <a:endParaRPr lang="en-US" sz="1500" dirty="0"/>
          </a:p>
        </p:txBody>
      </p:sp>
      <p:sp>
        <p:nvSpPr>
          <p:cNvPr id="10" name="Shape 8"/>
          <p:cNvSpPr/>
          <p:nvPr/>
        </p:nvSpPr>
        <p:spPr>
          <a:xfrm>
            <a:off x="2560320" y="4727448"/>
            <a:ext cx="0" cy="283464"/>
          </a:xfrm>
          <a:prstGeom prst="line">
            <a:avLst/>
          </a:prstGeom>
          <a:noFill/>
          <a:ln w="19050">
            <a:solidFill>
              <a:schemeClr val="accent6"/>
            </a:solidFill>
            <a:prstDash val="solid"/>
            <a:tailEnd type="triangle"/>
          </a:ln>
        </p:spPr>
      </p:sp>
      <p:sp>
        <p:nvSpPr>
          <p:cNvPr id="11" name="Text 9"/>
          <p:cNvSpPr/>
          <p:nvPr/>
        </p:nvSpPr>
        <p:spPr>
          <a:xfrm>
            <a:off x="548640" y="5029200"/>
            <a:ext cx="4023360" cy="640080"/>
          </a:xfrm>
          <a:prstGeom prst="roundRect">
            <a:avLst>
              <a:gd name="adj" fmla="val 11429"/>
            </a:avLst>
          </a:prstGeom>
          <a:solidFill>
            <a:schemeClr val="tx2"/>
          </a:solidFill>
          <a:ln w="9525">
            <a:solidFill>
              <a:schemeClr val="tx2"/>
            </a:solidFill>
            <a:prstDash val="solid"/>
          </a:ln>
        </p:spPr>
        <p:txBody>
          <a:bodyPr wrap="square" lIns="508" tIns="508" rIns="508" bIns="508" rtlCol="0" anchor="ctr"/>
          <a:lstStyle/>
          <a:p>
            <a:pPr algn="ctr" indent="0" marL="0">
              <a:buNone/>
            </a:pPr>
            <a:r>
              <a:rPr lang="en-US" sz="1500" b="1" dirty="0">
                <a:solidFill>
                  <a:schemeClr val="bg1"/>
                </a:solidFill>
              </a:rPr>
              <a:t>Follow the person</a:t>
            </a:r>
            <a:endParaRPr lang="en-US" sz="1500" dirty="0"/>
          </a:p>
        </p:txBody>
      </p:sp>
      <p:sp>
        <p:nvSpPr>
          <p:cNvPr id="12" name="Shape 10"/>
          <p:cNvSpPr/>
          <p:nvPr/>
        </p:nvSpPr>
        <p:spPr>
          <a:xfrm>
            <a:off x="5257800" y="1737360"/>
            <a:ext cx="3063240" cy="1719072"/>
          </a:xfrm>
          <a:prstGeom prst="roundRect">
            <a:avLst>
              <a:gd name="adj" fmla="val 5319"/>
            </a:avLst>
          </a:prstGeom>
          <a:solidFill>
            <a:schemeClr val="bg2"/>
          </a:solidFill>
          <a:ln w="9525">
            <a:solidFill>
              <a:schemeClr val="bg2"/>
            </a:solidFill>
            <a:prstDash val="solid"/>
          </a:ln>
        </p:spPr>
      </p:sp>
      <p:sp>
        <p:nvSpPr>
          <p:cNvPr id="13" name="Shape 11"/>
          <p:cNvSpPr/>
          <p:nvPr/>
        </p:nvSpPr>
        <p:spPr>
          <a:xfrm>
            <a:off x="5486400" y="1965960"/>
            <a:ext cx="548640" cy="548640"/>
          </a:xfrm>
          <a:prstGeom prst="ellipse">
            <a:avLst/>
          </a:prstGeom>
          <a:solidFill>
            <a:schemeClr val="accent2"/>
          </a:solidFill>
          <a:ln w="12700">
            <a:solidFill>
              <a:schemeClr val="accent2"/>
            </a:solidFill>
            <a:prstDash val="solid"/>
          </a:ln>
        </p:spPr>
      </p:sp>
      <p:pic>
        <p:nvPicPr>
          <p:cNvPr id="14" name="Image 0" descr="preencoded.png">    </p:cNvPr>
          <p:cNvPicPr>
            <a:picLocks noChangeAspect="1"/>
          </p:cNvPicPr>
          <p:nvPr/>
        </p:nvPicPr>
        <p:blipFill>
          <a:blip r:embed="rId1"/>
          <a:stretch>
            <a:fillRect/>
          </a:stretch>
        </p:blipFill>
        <p:spPr>
          <a:xfrm>
            <a:off x="5618074" y="2097634"/>
            <a:ext cx="285293" cy="285293"/>
          </a:xfrm>
          <a:prstGeom prst="rect">
            <a:avLst/>
          </a:prstGeom>
        </p:spPr>
      </p:pic>
      <p:sp>
        <p:nvSpPr>
          <p:cNvPr id="15" name="Text 12"/>
          <p:cNvSpPr txBox="1"/>
          <p:nvPr/>
        </p:nvSpPr>
        <p:spPr>
          <a:xfrm>
            <a:off x="5486400" y="2606040"/>
            <a:ext cx="2651760" cy="320040"/>
          </a:xfrm>
          <a:prstGeom prst="rect">
            <a:avLst/>
          </a:prstGeom>
          <a:noFill/>
          <a:ln/>
        </p:spPr>
        <p:txBody>
          <a:bodyPr wrap="square" lIns="0" tIns="0" rIns="0" bIns="0" rtlCol="0" anchor="t"/>
          <a:lstStyle/>
          <a:p>
            <a:pPr indent="0" marL="0">
              <a:buNone/>
            </a:pPr>
            <a:r>
              <a:rPr lang="en-US" sz="1600" b="1" dirty="0">
                <a:solidFill>
                  <a:schemeClr val="tx2"/>
                </a:solidFill>
              </a:rPr>
              <a:t>No map</a:t>
            </a:r>
            <a:endParaRPr lang="en-US" sz="1600" dirty="0"/>
          </a:p>
        </p:txBody>
      </p:sp>
      <p:sp>
        <p:nvSpPr>
          <p:cNvPr id="16" name="Text 13"/>
          <p:cNvSpPr txBox="1"/>
          <p:nvPr/>
        </p:nvSpPr>
        <p:spPr>
          <a:xfrm>
            <a:off x="5486400" y="2944368"/>
            <a:ext cx="2697480" cy="457200"/>
          </a:xfrm>
          <a:prstGeom prst="rect">
            <a:avLst/>
          </a:prstGeom>
          <a:noFill/>
          <a:ln/>
        </p:spPr>
        <p:txBody>
          <a:bodyPr wrap="square" lIns="0" tIns="0" rIns="0" bIns="0" rtlCol="0" anchor="t"/>
          <a:lstStyle/>
          <a:p>
            <a:pPr indent="0" marL="0">
              <a:buNone/>
            </a:pPr>
            <a:r>
              <a:rPr lang="en-US" sz="1300" dirty="0">
                <a:solidFill>
                  <a:schemeClr val="tx1"/>
                </a:solidFill>
              </a:rPr>
              <a:t>No planned navigation was possible.</a:t>
            </a:r>
            <a:endParaRPr lang="en-US" sz="1300" dirty="0"/>
          </a:p>
        </p:txBody>
      </p:sp>
      <p:sp>
        <p:nvSpPr>
          <p:cNvPr id="17" name="Shape 14"/>
          <p:cNvSpPr/>
          <p:nvPr/>
        </p:nvSpPr>
        <p:spPr>
          <a:xfrm>
            <a:off x="8503920" y="1737360"/>
            <a:ext cx="3063240" cy="1719072"/>
          </a:xfrm>
          <a:prstGeom prst="roundRect">
            <a:avLst>
              <a:gd name="adj" fmla="val 5319"/>
            </a:avLst>
          </a:prstGeom>
          <a:solidFill>
            <a:schemeClr val="bg2"/>
          </a:solidFill>
          <a:ln w="9525">
            <a:solidFill>
              <a:schemeClr val="bg2"/>
            </a:solidFill>
            <a:prstDash val="solid"/>
          </a:ln>
        </p:spPr>
      </p:sp>
      <p:sp>
        <p:nvSpPr>
          <p:cNvPr id="18" name="Shape 15"/>
          <p:cNvSpPr/>
          <p:nvPr/>
        </p:nvSpPr>
        <p:spPr>
          <a:xfrm>
            <a:off x="8732520" y="1965960"/>
            <a:ext cx="548640" cy="548640"/>
          </a:xfrm>
          <a:prstGeom prst="ellipse">
            <a:avLst/>
          </a:prstGeom>
          <a:solidFill>
            <a:schemeClr val="accent2"/>
          </a:solidFill>
          <a:ln w="12700">
            <a:solidFill>
              <a:schemeClr val="accent2"/>
            </a:solidFill>
            <a:prstDash val="solid"/>
          </a:ln>
        </p:spPr>
      </p:sp>
      <p:pic>
        <p:nvPicPr>
          <p:cNvPr id="19" name="Image 1" descr="preencoded.png">    </p:cNvPr>
          <p:cNvPicPr>
            <a:picLocks noChangeAspect="1"/>
          </p:cNvPicPr>
          <p:nvPr/>
        </p:nvPicPr>
        <p:blipFill>
          <a:blip r:embed="rId2"/>
          <a:stretch>
            <a:fillRect/>
          </a:stretch>
        </p:blipFill>
        <p:spPr>
          <a:xfrm>
            <a:off x="8864194" y="2097634"/>
            <a:ext cx="285293" cy="285293"/>
          </a:xfrm>
          <a:prstGeom prst="rect">
            <a:avLst/>
          </a:prstGeom>
        </p:spPr>
      </p:pic>
      <p:sp>
        <p:nvSpPr>
          <p:cNvPr id="20" name="Text 16"/>
          <p:cNvSpPr txBox="1"/>
          <p:nvPr/>
        </p:nvSpPr>
        <p:spPr>
          <a:xfrm>
            <a:off x="8732520" y="2606040"/>
            <a:ext cx="2651760" cy="320040"/>
          </a:xfrm>
          <a:prstGeom prst="rect">
            <a:avLst/>
          </a:prstGeom>
          <a:noFill/>
          <a:ln/>
        </p:spPr>
        <p:txBody>
          <a:bodyPr wrap="square" lIns="0" tIns="0" rIns="0" bIns="0" rtlCol="0" anchor="t"/>
          <a:lstStyle/>
          <a:p>
            <a:pPr indent="0" marL="0">
              <a:buNone/>
            </a:pPr>
            <a:r>
              <a:rPr lang="en-US" sz="1600" b="1" dirty="0">
                <a:solidFill>
                  <a:schemeClr val="tx2"/>
                </a:solidFill>
              </a:rPr>
              <a:t>No global localization</a:t>
            </a:r>
            <a:endParaRPr lang="en-US" sz="1600" dirty="0"/>
          </a:p>
        </p:txBody>
      </p:sp>
      <p:sp>
        <p:nvSpPr>
          <p:cNvPr id="21" name="Text 17"/>
          <p:cNvSpPr txBox="1"/>
          <p:nvPr/>
        </p:nvSpPr>
        <p:spPr>
          <a:xfrm>
            <a:off x="8732520" y="2944368"/>
            <a:ext cx="2697480" cy="457200"/>
          </a:xfrm>
          <a:prstGeom prst="rect">
            <a:avLst/>
          </a:prstGeom>
          <a:noFill/>
          <a:ln/>
        </p:spPr>
        <p:txBody>
          <a:bodyPr wrap="square" lIns="0" tIns="0" rIns="0" bIns="0" rtlCol="0" anchor="t"/>
          <a:lstStyle/>
          <a:p>
            <a:pPr indent="0" marL="0">
              <a:buNone/>
            </a:pPr>
            <a:r>
              <a:rPr lang="en-US" sz="1300" dirty="0">
                <a:solidFill>
                  <a:schemeClr val="tx1"/>
                </a:solidFill>
              </a:rPr>
              <a:t>Once the person was lost, there was no reference to reorient.</a:t>
            </a:r>
            <a:endParaRPr lang="en-US" sz="1300" dirty="0"/>
          </a:p>
        </p:txBody>
      </p:sp>
      <p:sp>
        <p:nvSpPr>
          <p:cNvPr id="22" name="Shape 18"/>
          <p:cNvSpPr/>
          <p:nvPr/>
        </p:nvSpPr>
        <p:spPr>
          <a:xfrm>
            <a:off x="5257800" y="3639312"/>
            <a:ext cx="3063240" cy="1719072"/>
          </a:xfrm>
          <a:prstGeom prst="roundRect">
            <a:avLst>
              <a:gd name="adj" fmla="val 5319"/>
            </a:avLst>
          </a:prstGeom>
          <a:solidFill>
            <a:schemeClr val="bg2"/>
          </a:solidFill>
          <a:ln w="9525">
            <a:solidFill>
              <a:schemeClr val="bg2"/>
            </a:solidFill>
            <a:prstDash val="solid"/>
          </a:ln>
        </p:spPr>
      </p:sp>
      <p:sp>
        <p:nvSpPr>
          <p:cNvPr id="23" name="Shape 19"/>
          <p:cNvSpPr/>
          <p:nvPr/>
        </p:nvSpPr>
        <p:spPr>
          <a:xfrm>
            <a:off x="5486400" y="3867912"/>
            <a:ext cx="548640" cy="548640"/>
          </a:xfrm>
          <a:prstGeom prst="ellipse">
            <a:avLst/>
          </a:prstGeom>
          <a:solidFill>
            <a:schemeClr val="accent2"/>
          </a:solidFill>
          <a:ln w="12700">
            <a:solidFill>
              <a:schemeClr val="accent2"/>
            </a:solidFill>
            <a:prstDash val="solid"/>
          </a:ln>
        </p:spPr>
      </p:sp>
      <p:pic>
        <p:nvPicPr>
          <p:cNvPr id="24" name="Image 2" descr="preencoded.png">    </p:cNvPr>
          <p:cNvPicPr>
            <a:picLocks noChangeAspect="1"/>
          </p:cNvPicPr>
          <p:nvPr/>
        </p:nvPicPr>
        <p:blipFill>
          <a:blip r:embed="rId3"/>
          <a:stretch>
            <a:fillRect/>
          </a:stretch>
        </p:blipFill>
        <p:spPr>
          <a:xfrm>
            <a:off x="5618074" y="3999586"/>
            <a:ext cx="285293" cy="285293"/>
          </a:xfrm>
          <a:prstGeom prst="rect">
            <a:avLst/>
          </a:prstGeom>
        </p:spPr>
      </p:pic>
      <p:sp>
        <p:nvSpPr>
          <p:cNvPr id="25" name="Text 20"/>
          <p:cNvSpPr txBox="1"/>
          <p:nvPr/>
        </p:nvSpPr>
        <p:spPr>
          <a:xfrm>
            <a:off x="5486400" y="4507992"/>
            <a:ext cx="2651760" cy="320040"/>
          </a:xfrm>
          <a:prstGeom prst="rect">
            <a:avLst/>
          </a:prstGeom>
          <a:noFill/>
          <a:ln/>
        </p:spPr>
        <p:txBody>
          <a:bodyPr wrap="square" lIns="0" tIns="0" rIns="0" bIns="0" rtlCol="0" anchor="t"/>
          <a:lstStyle/>
          <a:p>
            <a:pPr indent="0" marL="0">
              <a:buNone/>
            </a:pPr>
            <a:r>
              <a:rPr lang="en-US" sz="1600" b="1" dirty="0">
                <a:solidFill>
                  <a:schemeClr val="tx2"/>
                </a:solidFill>
              </a:rPr>
              <a:t>Limited interaction</a:t>
            </a:r>
            <a:endParaRPr lang="en-US" sz="1600" dirty="0"/>
          </a:p>
        </p:txBody>
      </p:sp>
      <p:sp>
        <p:nvSpPr>
          <p:cNvPr id="26" name="Text 21"/>
          <p:cNvSpPr txBox="1"/>
          <p:nvPr/>
        </p:nvSpPr>
        <p:spPr>
          <a:xfrm>
            <a:off x="5486400" y="4846320"/>
            <a:ext cx="2697480" cy="457200"/>
          </a:xfrm>
          <a:prstGeom prst="rect">
            <a:avLst/>
          </a:prstGeom>
          <a:noFill/>
          <a:ln/>
        </p:spPr>
        <p:txBody>
          <a:bodyPr wrap="square" lIns="0" tIns="0" rIns="0" bIns="0" rtlCol="0" anchor="t"/>
          <a:lstStyle/>
          <a:p>
            <a:pPr indent="0" marL="0">
              <a:buNone/>
            </a:pPr>
            <a:r>
              <a:rPr lang="en-US" sz="1300" dirty="0">
                <a:solidFill>
                  <a:schemeClr val="tx1"/>
                </a:solidFill>
              </a:rPr>
              <a:t>No clear way to start or stop following.</a:t>
            </a:r>
            <a:endParaRPr lang="en-US" sz="1300" dirty="0"/>
          </a:p>
        </p:txBody>
      </p:sp>
      <p:sp>
        <p:nvSpPr>
          <p:cNvPr id="27" name="Shape 22"/>
          <p:cNvSpPr/>
          <p:nvPr/>
        </p:nvSpPr>
        <p:spPr>
          <a:xfrm>
            <a:off x="8503920" y="3639312"/>
            <a:ext cx="3063240" cy="1719072"/>
          </a:xfrm>
          <a:prstGeom prst="roundRect">
            <a:avLst>
              <a:gd name="adj" fmla="val 5319"/>
            </a:avLst>
          </a:prstGeom>
          <a:solidFill>
            <a:schemeClr val="bg2"/>
          </a:solidFill>
          <a:ln w="9525">
            <a:solidFill>
              <a:schemeClr val="bg2"/>
            </a:solidFill>
            <a:prstDash val="solid"/>
          </a:ln>
        </p:spPr>
      </p:sp>
      <p:sp>
        <p:nvSpPr>
          <p:cNvPr id="28" name="Shape 23"/>
          <p:cNvSpPr/>
          <p:nvPr/>
        </p:nvSpPr>
        <p:spPr>
          <a:xfrm>
            <a:off x="8732520" y="3867912"/>
            <a:ext cx="548640" cy="548640"/>
          </a:xfrm>
          <a:prstGeom prst="ellipse">
            <a:avLst/>
          </a:prstGeom>
          <a:solidFill>
            <a:schemeClr val="accent2"/>
          </a:solidFill>
          <a:ln w="12700">
            <a:solidFill>
              <a:schemeClr val="accent2"/>
            </a:solidFill>
            <a:prstDash val="solid"/>
          </a:ln>
        </p:spPr>
      </p:sp>
      <p:pic>
        <p:nvPicPr>
          <p:cNvPr id="29" name="Image 3" descr="preencoded.png">    </p:cNvPr>
          <p:cNvPicPr>
            <a:picLocks noChangeAspect="1"/>
          </p:cNvPicPr>
          <p:nvPr/>
        </p:nvPicPr>
        <p:blipFill>
          <a:blip r:embed="rId4"/>
          <a:stretch>
            <a:fillRect/>
          </a:stretch>
        </p:blipFill>
        <p:spPr>
          <a:xfrm>
            <a:off x="8864194" y="3999586"/>
            <a:ext cx="285293" cy="285293"/>
          </a:xfrm>
          <a:prstGeom prst="rect">
            <a:avLst/>
          </a:prstGeom>
        </p:spPr>
      </p:pic>
      <p:sp>
        <p:nvSpPr>
          <p:cNvPr id="30" name="Text 24"/>
          <p:cNvSpPr txBox="1"/>
          <p:nvPr/>
        </p:nvSpPr>
        <p:spPr>
          <a:xfrm>
            <a:off x="8732520" y="4507992"/>
            <a:ext cx="2651760" cy="320040"/>
          </a:xfrm>
          <a:prstGeom prst="rect">
            <a:avLst/>
          </a:prstGeom>
          <a:noFill/>
          <a:ln/>
        </p:spPr>
        <p:txBody>
          <a:bodyPr wrap="square" lIns="0" tIns="0" rIns="0" bIns="0" rtlCol="0" anchor="t"/>
          <a:lstStyle/>
          <a:p>
            <a:pPr indent="0" marL="0">
              <a:buNone/>
            </a:pPr>
            <a:r>
              <a:rPr lang="en-US" sz="1600" b="1" dirty="0">
                <a:solidFill>
                  <a:schemeClr val="tx2"/>
                </a:solidFill>
              </a:rPr>
              <a:t>Camera not integrated</a:t>
            </a:r>
            <a:endParaRPr lang="en-US" sz="1600" dirty="0"/>
          </a:p>
        </p:txBody>
      </p:sp>
      <p:sp>
        <p:nvSpPr>
          <p:cNvPr id="31" name="Text 25"/>
          <p:cNvSpPr txBox="1"/>
          <p:nvPr/>
        </p:nvSpPr>
        <p:spPr>
          <a:xfrm>
            <a:off x="8732520" y="4846320"/>
            <a:ext cx="2697480" cy="457200"/>
          </a:xfrm>
          <a:prstGeom prst="rect">
            <a:avLst/>
          </a:prstGeom>
          <a:noFill/>
          <a:ln/>
        </p:spPr>
        <p:txBody>
          <a:bodyPr wrap="square" lIns="0" tIns="0" rIns="0" bIns="0" rtlCol="0" anchor="t"/>
          <a:lstStyle/>
          <a:p>
            <a:pPr indent="0" marL="0">
              <a:buNone/>
            </a:pPr>
            <a:r>
              <a:rPr lang="en-US" sz="1300" dirty="0">
                <a:solidFill>
                  <a:schemeClr val="tx1"/>
                </a:solidFill>
              </a:rPr>
              <a:t>Vision played no part in the control loop.</a:t>
            </a:r>
            <a:endParaRPr lang="en-US" sz="1300" dirty="0"/>
          </a:p>
        </p:txBody>
      </p:sp>
      <p:sp>
        <p:nvSpPr>
          <p:cNvPr id="32" name="Text 26"/>
          <p:cNvSpPr txBox="1"/>
          <p:nvPr/>
        </p:nvSpPr>
        <p:spPr>
          <a:xfrm>
            <a:off x="5257800" y="5577840"/>
            <a:ext cx="6309360" cy="457200"/>
          </a:xfrm>
          <a:prstGeom prst="rect">
            <a:avLst/>
          </a:prstGeom>
          <a:noFill/>
          <a:ln/>
        </p:spPr>
        <p:txBody>
          <a:bodyPr wrap="square" lIns="0" tIns="0" rIns="0" bIns="0" rtlCol="0" anchor="t"/>
          <a:lstStyle/>
          <a:p>
            <a:pPr indent="0" marL="0">
              <a:buNone/>
            </a:pPr>
            <a:r>
              <a:rPr lang="en-US" sz="1500" b="1" dirty="0">
                <a:solidFill>
                  <a:schemeClr val="accent1"/>
                </a:solidFill>
              </a:rPr>
              <a:t>This thesis → </a:t>
            </a:r>
            <a:pPr indent="0" marL="0">
              <a:buNone/>
            </a:pPr>
            <a:r>
              <a:rPr lang="en-US" sz="1500" dirty="0">
                <a:solidFill>
                  <a:schemeClr val="tx2"/>
                </a:solidFill>
              </a:rPr>
              <a:t>add gestures, a map and autonomous navigation — and make them work together.</a:t>
            </a:r>
            <a:endParaRPr lang="en-US" sz="15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Objectives and status</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Goal: turn the follower into a mobile assistant that navigates on its own and understands the user.</a:t>
            </a:r>
            <a:endParaRPr lang="en-US" sz="1600" dirty="0"/>
          </a:p>
        </p:txBody>
      </p:sp>
      <p:sp>
        <p:nvSpPr>
          <p:cNvPr id="4" name="Shape 2"/>
          <p:cNvSpPr/>
          <p:nvPr/>
        </p:nvSpPr>
        <p:spPr>
          <a:xfrm>
            <a:off x="548640" y="1737360"/>
            <a:ext cx="3566160" cy="2011680"/>
          </a:xfrm>
          <a:prstGeom prst="roundRect">
            <a:avLst>
              <a:gd name="adj" fmla="val 4545"/>
            </a:avLst>
          </a:prstGeom>
          <a:solidFill>
            <a:schemeClr val="bg2"/>
          </a:solidFill>
          <a:ln w="9525">
            <a:solidFill>
              <a:schemeClr val="bg2"/>
            </a:solidFill>
            <a:prstDash val="solid"/>
          </a:ln>
        </p:spPr>
      </p:sp>
      <p:sp>
        <p:nvSpPr>
          <p:cNvPr id="5" name="Text 3"/>
          <p:cNvSpPr/>
          <p:nvPr/>
        </p:nvSpPr>
        <p:spPr>
          <a:xfrm>
            <a:off x="777240" y="19659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371600" y="198424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Gesture interaction</a:t>
            </a:r>
            <a:endParaRPr lang="en-US" sz="1600" dirty="0"/>
          </a:p>
        </p:txBody>
      </p:sp>
      <p:sp>
        <p:nvSpPr>
          <p:cNvPr id="7" name="Text 5"/>
          <p:cNvSpPr txBox="1"/>
          <p:nvPr/>
        </p:nvSpPr>
        <p:spPr>
          <a:xfrm>
            <a:off x="777240" y="2578608"/>
            <a:ext cx="3108960" cy="640080"/>
          </a:xfrm>
          <a:prstGeom prst="rect">
            <a:avLst/>
          </a:prstGeom>
          <a:noFill/>
          <a:ln/>
        </p:spPr>
        <p:txBody>
          <a:bodyPr wrap="square" lIns="0" tIns="0" rIns="0" bIns="0" rtlCol="0" anchor="t"/>
          <a:lstStyle/>
          <a:p>
            <a:pPr indent="0" marL="0">
              <a:buNone/>
            </a:pPr>
            <a:r>
              <a:rPr lang="en-US" sz="1300" dirty="0">
                <a:solidFill>
                  <a:schemeClr val="tx1"/>
                </a:solidFill>
              </a:rPr>
              <a:t>Start, stop and “home” gestures with MediaPipe Pose</a:t>
            </a:r>
            <a:endParaRPr lang="en-US" sz="1300" dirty="0"/>
          </a:p>
        </p:txBody>
      </p:sp>
      <p:sp>
        <p:nvSpPr>
          <p:cNvPr id="8" name="Text 6"/>
          <p:cNvSpPr/>
          <p:nvPr/>
        </p:nvSpPr>
        <p:spPr>
          <a:xfrm>
            <a:off x="777240" y="3218688"/>
            <a:ext cx="1417320" cy="329184"/>
          </a:xfrm>
          <a:prstGeom prst="roundRect">
            <a:avLst>
              <a:gd name="adj" fmla="val 22222"/>
            </a:avLst>
          </a:prstGeom>
          <a:solidFill>
            <a:schemeClr val="accent1"/>
          </a:solidFill>
          <a:ln w="9525">
            <a:solidFill>
              <a:schemeClr val="accent1"/>
            </a:solidFill>
            <a:prstDash val="solid"/>
          </a:ln>
        </p:spPr>
        <p:txBody>
          <a:bodyPr wrap="square" lIns="508" tIns="508" rIns="508" bIns="508" rtlCol="0" anchor="ctr"/>
          <a:lstStyle/>
          <a:p>
            <a:pPr algn="ctr" indent="0" marL="0">
              <a:buNone/>
            </a:pPr>
            <a:r>
              <a:rPr lang="en-US" sz="1100" b="1" dirty="0">
                <a:solidFill>
                  <a:schemeClr val="bg1"/>
                </a:solidFill>
              </a:rPr>
              <a:t>Completed</a:t>
            </a:r>
            <a:endParaRPr lang="en-US" sz="1100" dirty="0"/>
          </a:p>
        </p:txBody>
      </p:sp>
      <p:sp>
        <p:nvSpPr>
          <p:cNvPr id="9" name="Shape 7"/>
          <p:cNvSpPr/>
          <p:nvPr/>
        </p:nvSpPr>
        <p:spPr>
          <a:xfrm>
            <a:off x="4297680" y="1737360"/>
            <a:ext cx="3566160" cy="2011680"/>
          </a:xfrm>
          <a:prstGeom prst="roundRect">
            <a:avLst>
              <a:gd name="adj" fmla="val 4545"/>
            </a:avLst>
          </a:prstGeom>
          <a:solidFill>
            <a:schemeClr val="bg2"/>
          </a:solidFill>
          <a:ln w="9525">
            <a:solidFill>
              <a:schemeClr val="bg2"/>
            </a:solidFill>
            <a:prstDash val="solid"/>
          </a:ln>
        </p:spPr>
      </p:sp>
      <p:sp>
        <p:nvSpPr>
          <p:cNvPr id="10" name="Text 8"/>
          <p:cNvSpPr/>
          <p:nvPr/>
        </p:nvSpPr>
        <p:spPr>
          <a:xfrm>
            <a:off x="4526280" y="19659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5120640" y="198424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SLAM mapping</a:t>
            </a:r>
            <a:endParaRPr lang="en-US" sz="1600" dirty="0"/>
          </a:p>
        </p:txBody>
      </p:sp>
      <p:sp>
        <p:nvSpPr>
          <p:cNvPr id="12" name="Text 10"/>
          <p:cNvSpPr txBox="1"/>
          <p:nvPr/>
        </p:nvSpPr>
        <p:spPr>
          <a:xfrm>
            <a:off x="4526280" y="2578608"/>
            <a:ext cx="3108960" cy="640080"/>
          </a:xfrm>
          <a:prstGeom prst="rect">
            <a:avLst/>
          </a:prstGeom>
          <a:noFill/>
          <a:ln/>
        </p:spPr>
        <p:txBody>
          <a:bodyPr wrap="square" lIns="0" tIns="0" rIns="0" bIns="0" rtlCol="0" anchor="t"/>
          <a:lstStyle/>
          <a:p>
            <a:pPr indent="0" marL="0">
              <a:buNone/>
            </a:pPr>
            <a:r>
              <a:rPr lang="en-US" sz="1300" dirty="0">
                <a:solidFill>
                  <a:schemeClr val="tx1"/>
                </a:solidFill>
              </a:rPr>
              <a:t>Map of the lab with SLAM Toolbox, reused for localization</a:t>
            </a:r>
            <a:endParaRPr lang="en-US" sz="1300" dirty="0"/>
          </a:p>
        </p:txBody>
      </p:sp>
      <p:sp>
        <p:nvSpPr>
          <p:cNvPr id="13" name="Text 11"/>
          <p:cNvSpPr/>
          <p:nvPr/>
        </p:nvSpPr>
        <p:spPr>
          <a:xfrm>
            <a:off x="4526280" y="3218688"/>
            <a:ext cx="1417320" cy="329184"/>
          </a:xfrm>
          <a:prstGeom prst="roundRect">
            <a:avLst>
              <a:gd name="adj" fmla="val 22222"/>
            </a:avLst>
          </a:prstGeom>
          <a:solidFill>
            <a:schemeClr val="accent1"/>
          </a:solidFill>
          <a:ln w="9525">
            <a:solidFill>
              <a:schemeClr val="accent1"/>
            </a:solidFill>
            <a:prstDash val="solid"/>
          </a:ln>
        </p:spPr>
        <p:txBody>
          <a:bodyPr wrap="square" lIns="508" tIns="508" rIns="508" bIns="508" rtlCol="0" anchor="ctr"/>
          <a:lstStyle/>
          <a:p>
            <a:pPr algn="ctr" indent="0" marL="0">
              <a:buNone/>
            </a:pPr>
            <a:r>
              <a:rPr lang="en-US" sz="1100" b="1" dirty="0">
                <a:solidFill>
                  <a:schemeClr val="bg1"/>
                </a:solidFill>
              </a:rPr>
              <a:t>Completed</a:t>
            </a:r>
            <a:endParaRPr lang="en-US" sz="1100" dirty="0"/>
          </a:p>
        </p:txBody>
      </p:sp>
      <p:sp>
        <p:nvSpPr>
          <p:cNvPr id="14" name="Shape 12"/>
          <p:cNvSpPr/>
          <p:nvPr/>
        </p:nvSpPr>
        <p:spPr>
          <a:xfrm>
            <a:off x="8046720" y="1737360"/>
            <a:ext cx="3566160" cy="2011680"/>
          </a:xfrm>
          <a:prstGeom prst="roundRect">
            <a:avLst>
              <a:gd name="adj" fmla="val 4545"/>
            </a:avLst>
          </a:prstGeom>
          <a:solidFill>
            <a:schemeClr val="bg2"/>
          </a:solidFill>
          <a:ln w="9525">
            <a:solidFill>
              <a:schemeClr val="bg2"/>
            </a:solidFill>
            <a:prstDash val="solid"/>
          </a:ln>
        </p:spPr>
      </p:sp>
      <p:sp>
        <p:nvSpPr>
          <p:cNvPr id="15" name="Text 13"/>
          <p:cNvSpPr/>
          <p:nvPr/>
        </p:nvSpPr>
        <p:spPr>
          <a:xfrm>
            <a:off x="8275320" y="19659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8869680" y="198424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Autonomous navigation</a:t>
            </a:r>
            <a:endParaRPr lang="en-US" sz="1600" dirty="0"/>
          </a:p>
        </p:txBody>
      </p:sp>
      <p:sp>
        <p:nvSpPr>
          <p:cNvPr id="17" name="Text 15"/>
          <p:cNvSpPr txBox="1"/>
          <p:nvPr/>
        </p:nvSpPr>
        <p:spPr>
          <a:xfrm>
            <a:off x="8275320" y="2578608"/>
            <a:ext cx="3108960" cy="640080"/>
          </a:xfrm>
          <a:prstGeom prst="rect">
            <a:avLst/>
          </a:prstGeom>
          <a:noFill/>
          <a:ln/>
        </p:spPr>
        <p:txBody>
          <a:bodyPr wrap="square" lIns="0" tIns="0" rIns="0" bIns="0" rtlCol="0" anchor="t"/>
          <a:lstStyle/>
          <a:p>
            <a:pPr indent="0" marL="0">
              <a:buNone/>
            </a:pPr>
            <a:r>
              <a:rPr lang="en-US" sz="1300" dirty="0">
                <a:solidFill>
                  <a:schemeClr val="tx1"/>
                </a:solidFill>
              </a:rPr>
              <a:t>AMCL + Nav2 on the saved map: 6 of 7 goals</a:t>
            </a:r>
            <a:endParaRPr lang="en-US" sz="1300" dirty="0"/>
          </a:p>
        </p:txBody>
      </p:sp>
      <p:sp>
        <p:nvSpPr>
          <p:cNvPr id="18" name="Text 16"/>
          <p:cNvSpPr/>
          <p:nvPr/>
        </p:nvSpPr>
        <p:spPr>
          <a:xfrm>
            <a:off x="8275320" y="3218688"/>
            <a:ext cx="1417320" cy="329184"/>
          </a:xfrm>
          <a:prstGeom prst="roundRect">
            <a:avLst>
              <a:gd name="adj" fmla="val 22222"/>
            </a:avLst>
          </a:prstGeom>
          <a:solidFill>
            <a:schemeClr val="accent1"/>
          </a:solidFill>
          <a:ln w="9525">
            <a:solidFill>
              <a:schemeClr val="accent1"/>
            </a:solidFill>
            <a:prstDash val="solid"/>
          </a:ln>
        </p:spPr>
        <p:txBody>
          <a:bodyPr wrap="square" lIns="508" tIns="508" rIns="508" bIns="508" rtlCol="0" anchor="ctr"/>
          <a:lstStyle/>
          <a:p>
            <a:pPr algn="ctr" indent="0" marL="0">
              <a:buNone/>
            </a:pPr>
            <a:r>
              <a:rPr lang="en-US" sz="1100" b="1" dirty="0">
                <a:solidFill>
                  <a:schemeClr val="bg1"/>
                </a:solidFill>
              </a:rPr>
              <a:t>Completed</a:t>
            </a:r>
            <a:endParaRPr lang="en-US" sz="1100" dirty="0"/>
          </a:p>
        </p:txBody>
      </p:sp>
      <p:sp>
        <p:nvSpPr>
          <p:cNvPr id="19" name="Shape 17"/>
          <p:cNvSpPr/>
          <p:nvPr/>
        </p:nvSpPr>
        <p:spPr>
          <a:xfrm>
            <a:off x="548640" y="3977640"/>
            <a:ext cx="3566160" cy="2011680"/>
          </a:xfrm>
          <a:prstGeom prst="roundRect">
            <a:avLst>
              <a:gd name="adj" fmla="val 4545"/>
            </a:avLst>
          </a:prstGeom>
          <a:solidFill>
            <a:schemeClr val="bg2"/>
          </a:solidFill>
          <a:ln w="9525">
            <a:solidFill>
              <a:schemeClr val="bg2"/>
            </a:solidFill>
            <a:prstDash val="solid"/>
          </a:ln>
        </p:spPr>
      </p:sp>
      <p:sp>
        <p:nvSpPr>
          <p:cNvPr id="20" name="Text 18"/>
          <p:cNvSpPr/>
          <p:nvPr/>
        </p:nvSpPr>
        <p:spPr>
          <a:xfrm>
            <a:off x="777240" y="42062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1371600" y="422452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LiDAR–camera fusion</a:t>
            </a:r>
            <a:endParaRPr lang="en-US" sz="1600" dirty="0"/>
          </a:p>
        </p:txBody>
      </p:sp>
      <p:sp>
        <p:nvSpPr>
          <p:cNvPr id="22" name="Text 20"/>
          <p:cNvSpPr txBox="1"/>
          <p:nvPr/>
        </p:nvSpPr>
        <p:spPr>
          <a:xfrm>
            <a:off x="777240" y="4818888"/>
            <a:ext cx="3108960" cy="640080"/>
          </a:xfrm>
          <a:prstGeom prst="rect">
            <a:avLst/>
          </a:prstGeom>
          <a:noFill/>
          <a:ln/>
        </p:spPr>
        <p:txBody>
          <a:bodyPr wrap="square" lIns="0" tIns="0" rIns="0" bIns="0" rtlCol="0" anchor="t"/>
          <a:lstStyle/>
          <a:p>
            <a:pPr indent="0" marL="0">
              <a:buNone/>
            </a:pPr>
            <a:r>
              <a:rPr lang="en-US" sz="1300" dirty="0">
                <a:solidFill>
                  <a:schemeClr val="tx1"/>
                </a:solidFill>
              </a:rPr>
              <a:t>Camera bearing as a fallback when no leg pair is found</a:t>
            </a:r>
            <a:endParaRPr lang="en-US" sz="1300" dirty="0"/>
          </a:p>
        </p:txBody>
      </p:sp>
      <p:sp>
        <p:nvSpPr>
          <p:cNvPr id="23" name="Text 21"/>
          <p:cNvSpPr/>
          <p:nvPr/>
        </p:nvSpPr>
        <p:spPr>
          <a:xfrm>
            <a:off x="777240" y="5458968"/>
            <a:ext cx="1417320" cy="329184"/>
          </a:xfrm>
          <a:prstGeom prst="roundRect">
            <a:avLst>
              <a:gd name="adj" fmla="val 22222"/>
            </a:avLst>
          </a:prstGeom>
          <a:solidFill>
            <a:schemeClr val="accent1"/>
          </a:solidFill>
          <a:ln w="9525">
            <a:solidFill>
              <a:schemeClr val="accent1"/>
            </a:solidFill>
            <a:prstDash val="solid"/>
          </a:ln>
        </p:spPr>
        <p:txBody>
          <a:bodyPr wrap="square" lIns="508" tIns="508" rIns="508" bIns="508" rtlCol="0" anchor="ctr"/>
          <a:lstStyle/>
          <a:p>
            <a:pPr algn="ctr" indent="0" marL="0">
              <a:buNone/>
            </a:pPr>
            <a:r>
              <a:rPr lang="en-US" sz="1100" b="1" dirty="0">
                <a:solidFill>
                  <a:schemeClr val="bg1"/>
                </a:solidFill>
              </a:rPr>
              <a:t>Completed</a:t>
            </a:r>
            <a:endParaRPr lang="en-US" sz="1100" dirty="0"/>
          </a:p>
        </p:txBody>
      </p:sp>
      <p:sp>
        <p:nvSpPr>
          <p:cNvPr id="24" name="Shape 22"/>
          <p:cNvSpPr/>
          <p:nvPr/>
        </p:nvSpPr>
        <p:spPr>
          <a:xfrm>
            <a:off x="4297680" y="3977640"/>
            <a:ext cx="3566160" cy="2011680"/>
          </a:xfrm>
          <a:prstGeom prst="roundRect">
            <a:avLst>
              <a:gd name="adj" fmla="val 4545"/>
            </a:avLst>
          </a:prstGeom>
          <a:solidFill>
            <a:schemeClr val="bg2"/>
          </a:solidFill>
          <a:ln w="9525">
            <a:solidFill>
              <a:schemeClr val="bg2"/>
            </a:solidFill>
            <a:prstDash val="solid"/>
          </a:ln>
        </p:spPr>
      </p:sp>
      <p:sp>
        <p:nvSpPr>
          <p:cNvPr id="25" name="Text 23"/>
          <p:cNvSpPr/>
          <p:nvPr/>
        </p:nvSpPr>
        <p:spPr>
          <a:xfrm>
            <a:off x="4526280" y="420624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5120640" y="422452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User guidance</a:t>
            </a:r>
            <a:endParaRPr lang="en-US" sz="1600" dirty="0"/>
          </a:p>
        </p:txBody>
      </p:sp>
      <p:sp>
        <p:nvSpPr>
          <p:cNvPr id="27" name="Text 25"/>
          <p:cNvSpPr txBox="1"/>
          <p:nvPr/>
        </p:nvSpPr>
        <p:spPr>
          <a:xfrm>
            <a:off x="4526280" y="4818888"/>
            <a:ext cx="3108960" cy="640080"/>
          </a:xfrm>
          <a:prstGeom prst="rect">
            <a:avLst/>
          </a:prstGeom>
          <a:noFill/>
          <a:ln/>
        </p:spPr>
        <p:txBody>
          <a:bodyPr wrap="square" lIns="0" tIns="0" rIns="0" bIns="0" rtlCol="0" anchor="t"/>
          <a:lstStyle/>
          <a:p>
            <a:pPr indent="0" marL="0">
              <a:buNone/>
            </a:pPr>
            <a:r>
              <a:rPr lang="en-US" sz="1300" dirty="0">
                <a:solidFill>
                  <a:schemeClr val="tx1"/>
                </a:solidFill>
              </a:rPr>
              <a:t>First step: return home on a gesture, 9 of 11 completed</a:t>
            </a:r>
            <a:endParaRPr lang="en-US" sz="1300" dirty="0"/>
          </a:p>
        </p:txBody>
      </p:sp>
      <p:sp>
        <p:nvSpPr>
          <p:cNvPr id="28" name="Text 26"/>
          <p:cNvSpPr/>
          <p:nvPr/>
        </p:nvSpPr>
        <p:spPr>
          <a:xfrm>
            <a:off x="4526280" y="5458968"/>
            <a:ext cx="1417320" cy="329184"/>
          </a:xfrm>
          <a:prstGeom prst="roundRect">
            <a:avLst>
              <a:gd name="adj" fmla="val 22222"/>
            </a:avLst>
          </a:prstGeom>
          <a:solidFill>
            <a:schemeClr val="accent2"/>
          </a:solidFill>
          <a:ln w="9525">
            <a:solidFill>
              <a:schemeClr val="accent2"/>
            </a:solidFill>
            <a:prstDash val="solid"/>
          </a:ln>
        </p:spPr>
        <p:txBody>
          <a:bodyPr wrap="square" lIns="508" tIns="508" rIns="508" bIns="508" rtlCol="0" anchor="ctr"/>
          <a:lstStyle/>
          <a:p>
            <a:pPr algn="ctr" indent="0" marL="0">
              <a:buNone/>
            </a:pPr>
            <a:r>
              <a:rPr lang="en-US" sz="1100" b="1" dirty="0">
                <a:solidFill>
                  <a:schemeClr val="bg1"/>
                </a:solidFill>
              </a:rPr>
              <a:t>First step</a:t>
            </a:r>
            <a:endParaRPr lang="en-US" sz="1100" dirty="0"/>
          </a:p>
        </p:txBody>
      </p:sp>
      <p:sp>
        <p:nvSpPr>
          <p:cNvPr id="29" name="Shape 27"/>
          <p:cNvSpPr/>
          <p:nvPr/>
        </p:nvSpPr>
        <p:spPr>
          <a:xfrm>
            <a:off x="8046720" y="3977640"/>
            <a:ext cx="3566160" cy="2011680"/>
          </a:xfrm>
          <a:prstGeom prst="roundRect">
            <a:avLst>
              <a:gd name="adj" fmla="val 4545"/>
            </a:avLst>
          </a:prstGeom>
          <a:solidFill>
            <a:schemeClr val="bg2"/>
          </a:solidFill>
          <a:ln w="9525">
            <a:solidFill>
              <a:schemeClr val="bg2"/>
            </a:solidFill>
            <a:prstDash val="solid"/>
          </a:ln>
        </p:spPr>
      </p:sp>
      <p:sp>
        <p:nvSpPr>
          <p:cNvPr id="30" name="Text 28"/>
          <p:cNvSpPr/>
          <p:nvPr/>
        </p:nvSpPr>
        <p:spPr>
          <a:xfrm>
            <a:off x="8275320" y="4206240"/>
            <a:ext cx="457200" cy="45720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8869680" y="422452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QR room recognition</a:t>
            </a:r>
            <a:endParaRPr lang="en-US" sz="1600" dirty="0"/>
          </a:p>
        </p:txBody>
      </p:sp>
      <p:sp>
        <p:nvSpPr>
          <p:cNvPr id="32" name="Text 30"/>
          <p:cNvSpPr txBox="1"/>
          <p:nvPr/>
        </p:nvSpPr>
        <p:spPr>
          <a:xfrm>
            <a:off x="8275320" y="4818888"/>
            <a:ext cx="3108960" cy="640080"/>
          </a:xfrm>
          <a:prstGeom prst="rect">
            <a:avLst/>
          </a:prstGeom>
          <a:noFill/>
          <a:ln/>
        </p:spPr>
        <p:txBody>
          <a:bodyPr wrap="square" lIns="0" tIns="0" rIns="0" bIns="0" rtlCol="0" anchor="t"/>
          <a:lstStyle/>
          <a:p>
            <a:pPr indent="0" marL="0">
              <a:buNone/>
            </a:pPr>
            <a:r>
              <a:rPr lang="en-US" sz="1300" dirty="0">
                <a:solidFill>
                  <a:schemeClr val="tx1"/>
                </a:solidFill>
              </a:rPr>
              <a:t>Exploratory objective; links to multi-destination guidance</a:t>
            </a:r>
            <a:endParaRPr lang="en-US" sz="1300" dirty="0"/>
          </a:p>
        </p:txBody>
      </p:sp>
      <p:sp>
        <p:nvSpPr>
          <p:cNvPr id="33" name="Text 31"/>
          <p:cNvSpPr/>
          <p:nvPr/>
        </p:nvSpPr>
        <p:spPr>
          <a:xfrm>
            <a:off x="8275320" y="5458968"/>
            <a:ext cx="1417320" cy="329184"/>
          </a:xfrm>
          <a:prstGeom prst="roundRect">
            <a:avLst>
              <a:gd name="adj" fmla="val 22222"/>
            </a:avLst>
          </a:prstGeom>
          <a:solidFill>
            <a:schemeClr val="accent6"/>
          </a:solidFill>
          <a:ln w="9525">
            <a:solidFill>
              <a:schemeClr val="accent6"/>
            </a:solidFill>
            <a:prstDash val="solid"/>
          </a:ln>
        </p:spPr>
        <p:txBody>
          <a:bodyPr wrap="square" lIns="508" tIns="508" rIns="508" bIns="508" rtlCol="0" anchor="ctr"/>
          <a:lstStyle/>
          <a:p>
            <a:pPr algn="ctr" indent="0" marL="0">
              <a:buNone/>
            </a:pPr>
            <a:r>
              <a:rPr lang="en-US" sz="1100" b="1" dirty="0">
                <a:solidFill>
                  <a:schemeClr val="bg1"/>
                </a:solidFill>
              </a:rPr>
              <a:t>Not addressed</a:t>
            </a:r>
            <a:endParaRPr lang="en-US" sz="11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Platform</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Low-cost hardware, with everything running on one onboard computer.</a:t>
            </a:r>
            <a:endParaRPr lang="en-US" sz="1600" dirty="0"/>
          </a:p>
        </p:txBody>
      </p:sp>
      <p:pic>
        <p:nvPicPr>
          <p:cNvPr id="4" name="Robot side view" descr="C:\Users\Juan.munoz\AppData\Local\Temp\claude\C--Users-Juan-munoz-Desktop-Jmr-tfm-memoria\6d0452c8-2f0a-46f5-9e7c-31797a7e3d61\scratchpad\deck\assets\side_view.png">    </p:cNvPr>
          <p:cNvPicPr>
            <a:picLocks noChangeAspect="1"/>
          </p:cNvPicPr>
          <p:nvPr/>
        </p:nvPicPr>
        <p:blipFill>
          <a:blip r:embed="rId1"/>
          <a:stretch>
            <a:fillRect/>
          </a:stretch>
        </p:blipFill>
        <p:spPr>
          <a:xfrm>
            <a:off x="685800" y="1691640"/>
            <a:ext cx="3611880" cy="4234151"/>
          </a:xfrm>
          <a:prstGeom prst="rect">
            <a:avLst/>
          </a:prstGeom>
        </p:spPr>
      </p:pic>
      <p:sp>
        <p:nvSpPr>
          <p:cNvPr id="5" name="Text 2"/>
          <p:cNvSpPr txBox="1"/>
          <p:nvPr/>
        </p:nvSpPr>
        <p:spPr>
          <a:xfrm>
            <a:off x="548640" y="5989320"/>
            <a:ext cx="4023360" cy="365760"/>
          </a:xfrm>
          <a:prstGeom prst="rect">
            <a:avLst/>
          </a:prstGeom>
          <a:noFill/>
          <a:ln/>
        </p:spPr>
        <p:txBody>
          <a:bodyPr wrap="square" lIns="0" tIns="0" rIns="0" bIns="0" rtlCol="0" anchor="t"/>
          <a:lstStyle/>
          <a:p>
            <a:pPr indent="0" marL="0">
              <a:buNone/>
            </a:pPr>
            <a:r>
              <a:rPr lang="en-US" sz="1100" i="1" dirty="0">
                <a:solidFill>
                  <a:schemeClr val="accent6"/>
                </a:solidFill>
              </a:rPr>
              <a:t>Side view (Fig. 3.4): the LiDAR scan plane sits at ≈ 0.47 m — leg height.</a:t>
            </a:r>
            <a:endParaRPr lang="en-US" sz="1100" dirty="0"/>
          </a:p>
        </p:txBody>
      </p:sp>
      <p:sp>
        <p:nvSpPr>
          <p:cNvPr id="6" name="Shape 3"/>
          <p:cNvSpPr/>
          <p:nvPr/>
        </p:nvSpPr>
        <p:spPr>
          <a:xfrm>
            <a:off x="4983480" y="1828800"/>
            <a:ext cx="640080" cy="640080"/>
          </a:xfrm>
          <a:prstGeom prst="ellipse">
            <a:avLst/>
          </a:prstGeom>
          <a:solidFill>
            <a:schemeClr val="accent1"/>
          </a:solidFill>
          <a:ln w="1270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5137099" y="1982419"/>
            <a:ext cx="332842" cy="332842"/>
          </a:xfrm>
          <a:prstGeom prst="rect">
            <a:avLst/>
          </a:prstGeom>
        </p:spPr>
      </p:pic>
      <p:sp>
        <p:nvSpPr>
          <p:cNvPr id="8" name="Text 4"/>
          <p:cNvSpPr txBox="1"/>
          <p:nvPr/>
        </p:nvSpPr>
        <p:spPr>
          <a:xfrm>
            <a:off x="5852160" y="1783080"/>
            <a:ext cx="5760720" cy="365760"/>
          </a:xfrm>
          <a:prstGeom prst="rect">
            <a:avLst/>
          </a:prstGeom>
          <a:noFill/>
          <a:ln/>
        </p:spPr>
        <p:txBody>
          <a:bodyPr wrap="square" lIns="0" tIns="0" rIns="0" bIns="0" rtlCol="0" anchor="t"/>
          <a:lstStyle/>
          <a:p>
            <a:pPr indent="0" marL="0">
              <a:buNone/>
            </a:pPr>
            <a:r>
              <a:rPr lang="en-US" sz="1700" b="1" dirty="0">
                <a:solidFill>
                  <a:schemeClr val="tx2"/>
                </a:solidFill>
              </a:rPr>
              <a:t>Kobuki base (TurtleBot 2)</a:t>
            </a:r>
            <a:endParaRPr lang="en-US" sz="1700" dirty="0"/>
          </a:p>
        </p:txBody>
      </p:sp>
      <p:sp>
        <p:nvSpPr>
          <p:cNvPr id="9" name="Text 5"/>
          <p:cNvSpPr txBox="1"/>
          <p:nvPr/>
        </p:nvSpPr>
        <p:spPr>
          <a:xfrm>
            <a:off x="5852160" y="2148840"/>
            <a:ext cx="5760720" cy="411480"/>
          </a:xfrm>
          <a:prstGeom prst="rect">
            <a:avLst/>
          </a:prstGeom>
          <a:noFill/>
          <a:ln/>
        </p:spPr>
        <p:txBody>
          <a:bodyPr wrap="square" lIns="0" tIns="0" rIns="0" bIns="0" rtlCol="0" anchor="t"/>
          <a:lstStyle/>
          <a:p>
            <a:pPr indent="0" marL="0">
              <a:buNone/>
            </a:pPr>
            <a:r>
              <a:rPr lang="en-US" sz="1300" dirty="0">
                <a:solidFill>
                  <a:schemeClr val="tx1"/>
                </a:solidFill>
              </a:rPr>
              <a:t>Differential drive · wheel encoders + gyroscope → odometry</a:t>
            </a:r>
            <a:endParaRPr lang="en-US" sz="1300" dirty="0"/>
          </a:p>
        </p:txBody>
      </p:sp>
      <p:sp>
        <p:nvSpPr>
          <p:cNvPr id="10" name="Shape 6"/>
          <p:cNvSpPr/>
          <p:nvPr/>
        </p:nvSpPr>
        <p:spPr>
          <a:xfrm>
            <a:off x="4983480" y="2816352"/>
            <a:ext cx="640080" cy="640080"/>
          </a:xfrm>
          <a:prstGeom prst="ellipse">
            <a:avLst/>
          </a:prstGeom>
          <a:solidFill>
            <a:schemeClr val="accent1"/>
          </a:solidFill>
          <a:ln w="1270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5137099" y="2969971"/>
            <a:ext cx="332842" cy="332842"/>
          </a:xfrm>
          <a:prstGeom prst="rect">
            <a:avLst/>
          </a:prstGeom>
        </p:spPr>
      </p:pic>
      <p:sp>
        <p:nvSpPr>
          <p:cNvPr id="12" name="Text 7"/>
          <p:cNvSpPr txBox="1"/>
          <p:nvPr/>
        </p:nvSpPr>
        <p:spPr>
          <a:xfrm>
            <a:off x="5852160" y="2770632"/>
            <a:ext cx="5760720" cy="365760"/>
          </a:xfrm>
          <a:prstGeom prst="rect">
            <a:avLst/>
          </a:prstGeom>
          <a:noFill/>
          <a:ln/>
        </p:spPr>
        <p:txBody>
          <a:bodyPr wrap="square" lIns="0" tIns="0" rIns="0" bIns="0" rtlCol="0" anchor="t"/>
          <a:lstStyle/>
          <a:p>
            <a:pPr indent="0" marL="0">
              <a:buNone/>
            </a:pPr>
            <a:r>
              <a:rPr lang="en-US" sz="1700" b="1" dirty="0">
                <a:solidFill>
                  <a:schemeClr val="tx2"/>
                </a:solidFill>
              </a:rPr>
              <a:t>RPLIDAR A2M8</a:t>
            </a:r>
            <a:endParaRPr lang="en-US" sz="1700" dirty="0"/>
          </a:p>
        </p:txBody>
      </p:sp>
      <p:sp>
        <p:nvSpPr>
          <p:cNvPr id="13" name="Text 8"/>
          <p:cNvSpPr txBox="1"/>
          <p:nvPr/>
        </p:nvSpPr>
        <p:spPr>
          <a:xfrm>
            <a:off x="5852160" y="3136392"/>
            <a:ext cx="5760720" cy="411480"/>
          </a:xfrm>
          <a:prstGeom prst="rect">
            <a:avLst/>
          </a:prstGeom>
          <a:noFill/>
          <a:ln/>
        </p:spPr>
        <p:txBody>
          <a:bodyPr wrap="square" lIns="0" tIns="0" rIns="0" bIns="0" rtlCol="0" anchor="t"/>
          <a:lstStyle/>
          <a:p>
            <a:pPr indent="0" marL="0">
              <a:buNone/>
            </a:pPr>
            <a:r>
              <a:rPr lang="en-US" sz="1300" dirty="0">
                <a:solidFill>
                  <a:schemeClr val="tx1"/>
                </a:solidFill>
              </a:rPr>
              <a:t>360° 2D LiDAR · ≈ 12 m range · ≈ 10 Hz · scans at leg height</a:t>
            </a:r>
            <a:endParaRPr lang="en-US" sz="1300" dirty="0"/>
          </a:p>
        </p:txBody>
      </p:sp>
      <p:sp>
        <p:nvSpPr>
          <p:cNvPr id="14" name="Shape 9"/>
          <p:cNvSpPr/>
          <p:nvPr/>
        </p:nvSpPr>
        <p:spPr>
          <a:xfrm>
            <a:off x="4983480" y="3803904"/>
            <a:ext cx="640080" cy="640080"/>
          </a:xfrm>
          <a:prstGeom prst="ellipse">
            <a:avLst/>
          </a:prstGeom>
          <a:solidFill>
            <a:schemeClr val="accent1"/>
          </a:solidFill>
          <a:ln w="12700">
            <a:solidFill>
              <a:schemeClr val="accent1"/>
            </a:solidFill>
            <a:prstDash val="solid"/>
          </a:ln>
        </p:spPr>
      </p:sp>
      <p:pic>
        <p:nvPicPr>
          <p:cNvPr id="15" name="Image 3" descr="preencoded.png">    </p:cNvPr>
          <p:cNvPicPr>
            <a:picLocks noChangeAspect="1"/>
          </p:cNvPicPr>
          <p:nvPr/>
        </p:nvPicPr>
        <p:blipFill>
          <a:blip r:embed="rId4"/>
          <a:stretch>
            <a:fillRect/>
          </a:stretch>
        </p:blipFill>
        <p:spPr>
          <a:xfrm>
            <a:off x="5137099" y="3957523"/>
            <a:ext cx="332842" cy="332842"/>
          </a:xfrm>
          <a:prstGeom prst="rect">
            <a:avLst/>
          </a:prstGeom>
        </p:spPr>
      </p:pic>
      <p:sp>
        <p:nvSpPr>
          <p:cNvPr id="16" name="Text 10"/>
          <p:cNvSpPr txBox="1"/>
          <p:nvPr/>
        </p:nvSpPr>
        <p:spPr>
          <a:xfrm>
            <a:off x="5852160" y="3758184"/>
            <a:ext cx="5760720" cy="365760"/>
          </a:xfrm>
          <a:prstGeom prst="rect">
            <a:avLst/>
          </a:prstGeom>
          <a:noFill/>
          <a:ln/>
        </p:spPr>
        <p:txBody>
          <a:bodyPr wrap="square" lIns="0" tIns="0" rIns="0" bIns="0" rtlCol="0" anchor="t"/>
          <a:lstStyle/>
          <a:p>
            <a:pPr indent="0" marL="0">
              <a:buNone/>
            </a:pPr>
            <a:r>
              <a:rPr lang="en-US" sz="1700" b="1" dirty="0">
                <a:solidFill>
                  <a:schemeClr val="tx2"/>
                </a:solidFill>
              </a:rPr>
              <a:t>RGB camera (SPCA2650)</a:t>
            </a:r>
            <a:endParaRPr lang="en-US" sz="1700" dirty="0"/>
          </a:p>
        </p:txBody>
      </p:sp>
      <p:sp>
        <p:nvSpPr>
          <p:cNvPr id="17" name="Text 11"/>
          <p:cNvSpPr txBox="1"/>
          <p:nvPr/>
        </p:nvSpPr>
        <p:spPr>
          <a:xfrm>
            <a:off x="5852160" y="4123944"/>
            <a:ext cx="5760720" cy="411480"/>
          </a:xfrm>
          <a:prstGeom prst="rect">
            <a:avLst/>
          </a:prstGeom>
          <a:noFill/>
          <a:ln/>
        </p:spPr>
        <p:txBody>
          <a:bodyPr wrap="square" lIns="0" tIns="0" rIns="0" bIns="0" rtlCol="0" anchor="t"/>
          <a:lstStyle/>
          <a:p>
            <a:pPr indent="0" marL="0">
              <a:buNone/>
            </a:pPr>
            <a:r>
              <a:rPr lang="en-US" sz="1300" dirty="0">
                <a:solidFill>
                  <a:schemeClr val="tx1"/>
                </a:solidFill>
              </a:rPr>
              <a:t>Replaced the Logitech C270 to frame gestures at ≈ 1 m · MediaPipe Pose</a:t>
            </a:r>
            <a:endParaRPr lang="en-US" sz="1300" dirty="0"/>
          </a:p>
        </p:txBody>
      </p:sp>
      <p:sp>
        <p:nvSpPr>
          <p:cNvPr id="18" name="Shape 12"/>
          <p:cNvSpPr/>
          <p:nvPr/>
        </p:nvSpPr>
        <p:spPr>
          <a:xfrm>
            <a:off x="4983480" y="4791456"/>
            <a:ext cx="640080" cy="640080"/>
          </a:xfrm>
          <a:prstGeom prst="ellipse">
            <a:avLst/>
          </a:prstGeom>
          <a:solidFill>
            <a:schemeClr val="accent1"/>
          </a:solidFill>
          <a:ln w="12700">
            <a:solidFill>
              <a:schemeClr val="accent1"/>
            </a:solidFill>
            <a:prstDash val="solid"/>
          </a:ln>
        </p:spPr>
      </p:sp>
      <p:pic>
        <p:nvPicPr>
          <p:cNvPr id="19" name="Image 4" descr="preencoded.png">    </p:cNvPr>
          <p:cNvPicPr>
            <a:picLocks noChangeAspect="1"/>
          </p:cNvPicPr>
          <p:nvPr/>
        </p:nvPicPr>
        <p:blipFill>
          <a:blip r:embed="rId5"/>
          <a:stretch>
            <a:fillRect/>
          </a:stretch>
        </p:blipFill>
        <p:spPr>
          <a:xfrm>
            <a:off x="5137099" y="4945075"/>
            <a:ext cx="332842" cy="332842"/>
          </a:xfrm>
          <a:prstGeom prst="rect">
            <a:avLst/>
          </a:prstGeom>
        </p:spPr>
      </p:pic>
      <p:sp>
        <p:nvSpPr>
          <p:cNvPr id="20" name="Text 13"/>
          <p:cNvSpPr txBox="1"/>
          <p:nvPr/>
        </p:nvSpPr>
        <p:spPr>
          <a:xfrm>
            <a:off x="5852160" y="4745736"/>
            <a:ext cx="5760720" cy="365760"/>
          </a:xfrm>
          <a:prstGeom prst="rect">
            <a:avLst/>
          </a:prstGeom>
          <a:noFill/>
          <a:ln/>
        </p:spPr>
        <p:txBody>
          <a:bodyPr wrap="square" lIns="0" tIns="0" rIns="0" bIns="0" rtlCol="0" anchor="t"/>
          <a:lstStyle/>
          <a:p>
            <a:pPr indent="0" marL="0">
              <a:buNone/>
            </a:pPr>
            <a:r>
              <a:rPr lang="en-US" sz="1700" b="1" dirty="0">
                <a:solidFill>
                  <a:schemeClr val="tx2"/>
                </a:solidFill>
              </a:rPr>
              <a:t>Intel NUC · Ubuntu 24.04 · ROS 2 Jazzy</a:t>
            </a:r>
            <a:endParaRPr lang="en-US" sz="1700" dirty="0"/>
          </a:p>
        </p:txBody>
      </p:sp>
      <p:sp>
        <p:nvSpPr>
          <p:cNvPr id="21" name="Text 14"/>
          <p:cNvSpPr txBox="1"/>
          <p:nvPr/>
        </p:nvSpPr>
        <p:spPr>
          <a:xfrm>
            <a:off x="5852160" y="5111496"/>
            <a:ext cx="5760720" cy="411480"/>
          </a:xfrm>
          <a:prstGeom prst="rect">
            <a:avLst/>
          </a:prstGeom>
          <a:noFill/>
          <a:ln/>
        </p:spPr>
        <p:txBody>
          <a:bodyPr wrap="square" lIns="0" tIns="0" rIns="0" bIns="0" rtlCol="0" anchor="t"/>
          <a:lstStyle/>
          <a:p>
            <a:pPr indent="0" marL="0">
              <a:buNone/>
            </a:pPr>
            <a:r>
              <a:rPr lang="en-US" sz="1300" dirty="0">
                <a:solidFill>
                  <a:schemeClr val="tx1"/>
                </a:solidFill>
              </a:rPr>
              <a:t>Drivers, perception, tracking and SLAM/Nav2 together: ≈ 30% load per core</a:t>
            </a:r>
            <a:endParaRPr lang="en-US" sz="1300" dirty="0"/>
          </a:p>
        </p:txBody>
      </p:sp>
      <p:sp>
        <p:nvSpPr>
          <p:cNvPr id="22" name="Text 15"/>
          <p:cNvSpPr txBox="1"/>
          <p:nvPr/>
        </p:nvSpPr>
        <p:spPr>
          <a:xfrm>
            <a:off x="4983480" y="5715000"/>
            <a:ext cx="1097280" cy="329184"/>
          </a:xfrm>
          <a:prstGeom prst="rect">
            <a:avLst/>
          </a:prstGeom>
          <a:noFill/>
          <a:ln/>
        </p:spPr>
        <p:txBody>
          <a:bodyPr wrap="square" lIns="0" tIns="0" rIns="0" bIns="0" rtlCol="0" anchor="ctr"/>
          <a:lstStyle/>
          <a:p>
            <a:pPr indent="0" marL="0">
              <a:buNone/>
            </a:pPr>
            <a:r>
              <a:rPr lang="en-US" sz="1100" b="1" spc="200" kern="0" dirty="0">
                <a:solidFill>
                  <a:schemeClr val="accent6"/>
                </a:solidFill>
              </a:rPr>
              <a:t>SOFTWARE</a:t>
            </a:r>
            <a:endParaRPr lang="en-US" sz="1100" dirty="0"/>
          </a:p>
        </p:txBody>
      </p:sp>
      <p:sp>
        <p:nvSpPr>
          <p:cNvPr id="23" name="Text 16"/>
          <p:cNvSpPr/>
          <p:nvPr/>
        </p:nvSpPr>
        <p:spPr>
          <a:xfrm>
            <a:off x="6035040" y="5715000"/>
            <a:ext cx="1060704" cy="329184"/>
          </a:xfrm>
          <a:prstGeom prst="roundRect">
            <a:avLst>
              <a:gd name="adj" fmla="val 2222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000" dirty="0">
                <a:solidFill>
                  <a:schemeClr val="tx2"/>
                </a:solidFill>
              </a:rPr>
              <a:t>ROS 2 Jazzy</a:t>
            </a:r>
            <a:endParaRPr lang="en-US" sz="1000" dirty="0"/>
          </a:p>
        </p:txBody>
      </p:sp>
      <p:sp>
        <p:nvSpPr>
          <p:cNvPr id="24" name="Text 17"/>
          <p:cNvSpPr/>
          <p:nvPr/>
        </p:nvSpPr>
        <p:spPr>
          <a:xfrm>
            <a:off x="7168896" y="5715000"/>
            <a:ext cx="1060704" cy="329184"/>
          </a:xfrm>
          <a:prstGeom prst="roundRect">
            <a:avLst>
              <a:gd name="adj" fmla="val 2222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000" dirty="0">
                <a:solidFill>
                  <a:schemeClr val="tx2"/>
                </a:solidFill>
              </a:rPr>
              <a:t>SLAM Toolbox</a:t>
            </a:r>
            <a:endParaRPr lang="en-US" sz="1000" dirty="0"/>
          </a:p>
        </p:txBody>
      </p:sp>
      <p:sp>
        <p:nvSpPr>
          <p:cNvPr id="25" name="Text 18"/>
          <p:cNvSpPr/>
          <p:nvPr/>
        </p:nvSpPr>
        <p:spPr>
          <a:xfrm>
            <a:off x="8302752" y="5715000"/>
            <a:ext cx="1060704" cy="329184"/>
          </a:xfrm>
          <a:prstGeom prst="roundRect">
            <a:avLst>
              <a:gd name="adj" fmla="val 2222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000" dirty="0">
                <a:solidFill>
                  <a:schemeClr val="tx2"/>
                </a:solidFill>
              </a:rPr>
              <a:t>Nav2 + AMCL</a:t>
            </a:r>
            <a:endParaRPr lang="en-US" sz="1000" dirty="0"/>
          </a:p>
        </p:txBody>
      </p:sp>
      <p:sp>
        <p:nvSpPr>
          <p:cNvPr id="26" name="Text 19"/>
          <p:cNvSpPr/>
          <p:nvPr/>
        </p:nvSpPr>
        <p:spPr>
          <a:xfrm>
            <a:off x="9436608" y="5715000"/>
            <a:ext cx="1060704" cy="329184"/>
          </a:xfrm>
          <a:prstGeom prst="roundRect">
            <a:avLst>
              <a:gd name="adj" fmla="val 2222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000" dirty="0">
                <a:solidFill>
                  <a:schemeClr val="tx2"/>
                </a:solidFill>
              </a:rPr>
              <a:t>MediaPipe Pose</a:t>
            </a:r>
            <a:endParaRPr lang="en-US" sz="1000" dirty="0"/>
          </a:p>
        </p:txBody>
      </p:sp>
      <p:sp>
        <p:nvSpPr>
          <p:cNvPr id="27" name="Text 20"/>
          <p:cNvSpPr/>
          <p:nvPr/>
        </p:nvSpPr>
        <p:spPr>
          <a:xfrm>
            <a:off x="10570464" y="5715000"/>
            <a:ext cx="1060704" cy="329184"/>
          </a:xfrm>
          <a:prstGeom prst="roundRect">
            <a:avLst>
              <a:gd name="adj" fmla="val 2222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000" dirty="0">
                <a:solidFill>
                  <a:schemeClr val="tx2"/>
                </a:solidFill>
              </a:rPr>
              <a:t>OpenCV · Python</a:t>
            </a:r>
            <a:endParaRPr lang="en-US" sz="10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Architecture</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Independent ROS 2 nodes linked by topics — and a single node that decides what reaches the wheels.</a:t>
            </a:r>
            <a:endParaRPr lang="en-US" sz="1600" dirty="0"/>
          </a:p>
        </p:txBody>
      </p:sp>
      <p:pic>
        <p:nvPicPr>
          <p:cNvPr id="4" name="Fig 3.1 node graph" descr="C:\Users\Juan.munoz\AppData\Local\Temp\claude\C--Users-Juan-munoz-Desktop-Jmr-tfm-memoria\6d0452c8-2f0a-46f5-9e7c-31797a7e3d61\scratchpad\deck\assets\en_fig3.1.png">    </p:cNvPr>
          <p:cNvPicPr>
            <a:picLocks noChangeAspect="1"/>
          </p:cNvPicPr>
          <p:nvPr/>
        </p:nvPicPr>
        <p:blipFill>
          <a:blip r:embed="rId1"/>
          <a:stretch>
            <a:fillRect/>
          </a:stretch>
        </p:blipFill>
        <p:spPr>
          <a:xfrm>
            <a:off x="548640" y="1600200"/>
            <a:ext cx="5943600" cy="4643438"/>
          </a:xfrm>
          <a:prstGeom prst="rect">
            <a:avLst/>
          </a:prstGeom>
        </p:spPr>
      </p:pic>
      <p:sp>
        <p:nvSpPr>
          <p:cNvPr id="5" name="Shape 2"/>
          <p:cNvSpPr/>
          <p:nvPr/>
        </p:nvSpPr>
        <p:spPr>
          <a:xfrm>
            <a:off x="6858000" y="1691640"/>
            <a:ext cx="4782312" cy="1325880"/>
          </a:xfrm>
          <a:prstGeom prst="roundRect">
            <a:avLst>
              <a:gd name="adj" fmla="val 6897"/>
            </a:avLst>
          </a:prstGeom>
          <a:solidFill>
            <a:schemeClr val="bg2"/>
          </a:solidFill>
          <a:ln w="9525">
            <a:solidFill>
              <a:schemeClr val="bg2"/>
            </a:solidFill>
            <a:prstDash val="solid"/>
          </a:ln>
        </p:spPr>
      </p:sp>
      <p:sp>
        <p:nvSpPr>
          <p:cNvPr id="6" name="Shape 3"/>
          <p:cNvSpPr/>
          <p:nvPr/>
        </p:nvSpPr>
        <p:spPr>
          <a:xfrm>
            <a:off x="7059168" y="1874520"/>
            <a:ext cx="502920" cy="502920"/>
          </a:xfrm>
          <a:prstGeom prst="ellipse">
            <a:avLst/>
          </a:prstGeom>
          <a:solidFill>
            <a:schemeClr val="accent1"/>
          </a:solidFill>
          <a:ln w="1270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7179869" y="1995221"/>
            <a:ext cx="261518" cy="261518"/>
          </a:xfrm>
          <a:prstGeom prst="rect">
            <a:avLst/>
          </a:prstGeom>
        </p:spPr>
      </p:pic>
      <p:sp>
        <p:nvSpPr>
          <p:cNvPr id="8" name="Text 4"/>
          <p:cNvSpPr txBox="1"/>
          <p:nvPr/>
        </p:nvSpPr>
        <p:spPr>
          <a:xfrm>
            <a:off x="7726680" y="1874520"/>
            <a:ext cx="3749040" cy="365760"/>
          </a:xfrm>
          <a:prstGeom prst="rect">
            <a:avLst/>
          </a:prstGeom>
          <a:noFill/>
          <a:ln/>
        </p:spPr>
        <p:txBody>
          <a:bodyPr wrap="square" lIns="0" tIns="0" rIns="0" bIns="0" rtlCol="0" anchor="ctr"/>
          <a:lstStyle/>
          <a:p>
            <a:pPr indent="0" marL="0">
              <a:buNone/>
            </a:pPr>
            <a:r>
              <a:rPr lang="en-US" sz="1600" b="1" dirty="0">
                <a:solidFill>
                  <a:schemeClr val="tx2"/>
                </a:solidFill>
              </a:rPr>
              <a:t>Perception</a:t>
            </a:r>
            <a:endParaRPr lang="en-US" sz="1600" dirty="0"/>
          </a:p>
        </p:txBody>
      </p:sp>
      <p:sp>
        <p:nvSpPr>
          <p:cNvPr id="9" name="Text 5"/>
          <p:cNvSpPr txBox="1"/>
          <p:nvPr/>
        </p:nvSpPr>
        <p:spPr>
          <a:xfrm>
            <a:off x="7726680" y="2258568"/>
            <a:ext cx="3794760" cy="713232"/>
          </a:xfrm>
          <a:prstGeom prst="rect">
            <a:avLst/>
          </a:prstGeom>
          <a:noFill/>
          <a:ln/>
        </p:spPr>
        <p:txBody>
          <a:bodyPr wrap="square" lIns="0" tIns="0" rIns="0" bIns="0" rtlCol="0" anchor="t"/>
          <a:lstStyle/>
          <a:p>
            <a:pPr indent="0" marL="0">
              <a:buNone/>
            </a:pPr>
            <a:r>
              <a:rPr lang="en-US" sz="1200" b="1" dirty="0">
                <a:solidFill>
                  <a:schemeClr val="accent1"/>
                </a:solidFill>
              </a:rPr>
              <a:t>detection_node</a:t>
            </a:r>
            <a:pPr indent="0" marL="0">
              <a:buNone/>
            </a:pPr>
            <a:r>
              <a:rPr lang="en-US" sz="1200" dirty="0">
                <a:solidFill>
                  <a:schemeClr val="tx1"/>
                </a:solidFill>
              </a:rPr>
              <a:t> — legs from the LiDAR (DBSCAN + geometric filter)</a:t>
            </a:r>
            <a:endParaRPr lang="en-US" sz="1200" dirty="0"/>
          </a:p>
          <a:p>
            <a:pPr indent="0" marL="0">
              <a:buNone/>
            </a:pPr>
            <a:r>
              <a:rPr lang="en-US" sz="1200" b="1" dirty="0">
                <a:solidFill>
                  <a:schemeClr val="accent1"/>
                </a:solidFill>
              </a:rPr>
              <a:t>visual_detection_node</a:t>
            </a:r>
            <a:pPr indent="0" marL="0">
              <a:buNone/>
            </a:pPr>
            <a:r>
              <a:rPr lang="en-US" sz="1200" dirty="0">
                <a:solidFill>
                  <a:schemeClr val="tx1"/>
                </a:solidFill>
              </a:rPr>
              <a:t> — MediaPipe gestures + person bearing</a:t>
            </a:r>
            <a:endParaRPr lang="en-US" sz="1200" dirty="0"/>
          </a:p>
        </p:txBody>
      </p:sp>
      <p:sp>
        <p:nvSpPr>
          <p:cNvPr id="10" name="Shape 6"/>
          <p:cNvSpPr/>
          <p:nvPr/>
        </p:nvSpPr>
        <p:spPr>
          <a:xfrm>
            <a:off x="6858000" y="3172968"/>
            <a:ext cx="4782312" cy="1325880"/>
          </a:xfrm>
          <a:prstGeom prst="roundRect">
            <a:avLst>
              <a:gd name="adj" fmla="val 6897"/>
            </a:avLst>
          </a:prstGeom>
          <a:solidFill>
            <a:schemeClr val="bg2"/>
          </a:solidFill>
          <a:ln w="9525">
            <a:solidFill>
              <a:schemeClr val="bg2"/>
            </a:solidFill>
            <a:prstDash val="solid"/>
          </a:ln>
        </p:spPr>
      </p:sp>
      <p:sp>
        <p:nvSpPr>
          <p:cNvPr id="11" name="Shape 7"/>
          <p:cNvSpPr/>
          <p:nvPr/>
        </p:nvSpPr>
        <p:spPr>
          <a:xfrm>
            <a:off x="7059168" y="3355848"/>
            <a:ext cx="502920" cy="50292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7179869" y="3476549"/>
            <a:ext cx="261518" cy="261518"/>
          </a:xfrm>
          <a:prstGeom prst="rect">
            <a:avLst/>
          </a:prstGeom>
        </p:spPr>
      </p:pic>
      <p:sp>
        <p:nvSpPr>
          <p:cNvPr id="13" name="Text 8"/>
          <p:cNvSpPr txBox="1"/>
          <p:nvPr/>
        </p:nvSpPr>
        <p:spPr>
          <a:xfrm>
            <a:off x="7726680" y="3355848"/>
            <a:ext cx="3749040" cy="365760"/>
          </a:xfrm>
          <a:prstGeom prst="rect">
            <a:avLst/>
          </a:prstGeom>
          <a:noFill/>
          <a:ln/>
        </p:spPr>
        <p:txBody>
          <a:bodyPr wrap="square" lIns="0" tIns="0" rIns="0" bIns="0" rtlCol="0" anchor="ctr"/>
          <a:lstStyle/>
          <a:p>
            <a:pPr indent="0" marL="0">
              <a:buNone/>
            </a:pPr>
            <a:r>
              <a:rPr lang="en-US" sz="1600" b="1" dirty="0">
                <a:solidFill>
                  <a:schemeClr val="tx2"/>
                </a:solidFill>
              </a:rPr>
              <a:t>Estimation &amp; control</a:t>
            </a:r>
            <a:endParaRPr lang="en-US" sz="1600" dirty="0"/>
          </a:p>
        </p:txBody>
      </p:sp>
      <p:sp>
        <p:nvSpPr>
          <p:cNvPr id="14" name="Text 9"/>
          <p:cNvSpPr txBox="1"/>
          <p:nvPr/>
        </p:nvSpPr>
        <p:spPr>
          <a:xfrm>
            <a:off x="7726680" y="3739896"/>
            <a:ext cx="3794760" cy="713232"/>
          </a:xfrm>
          <a:prstGeom prst="rect">
            <a:avLst/>
          </a:prstGeom>
          <a:noFill/>
          <a:ln/>
        </p:spPr>
        <p:txBody>
          <a:bodyPr wrap="square" lIns="0" tIns="0" rIns="0" bIns="0" rtlCol="0" anchor="t"/>
          <a:lstStyle/>
          <a:p>
            <a:pPr indent="0" marL="0">
              <a:buNone/>
            </a:pPr>
            <a:r>
              <a:rPr lang="en-US" sz="1200" b="1" dirty="0">
                <a:solidFill>
                  <a:schemeClr val="accent1"/>
                </a:solidFill>
              </a:rPr>
              <a:t>tracking_node</a:t>
            </a:r>
            <a:pPr indent="0" marL="0">
              <a:buNone/>
            </a:pPr>
            <a:r>
              <a:rPr lang="en-US" sz="1200" dirty="0">
                <a:solidFill>
                  <a:schemeClr val="tx1"/>
                </a:solidFill>
              </a:rPr>
              <a:t> — 6-state Kalman filter, Mahalanobis gate, PD heading, reactive avoidance</a:t>
            </a:r>
            <a:endParaRPr lang="en-US" sz="1200" dirty="0"/>
          </a:p>
        </p:txBody>
      </p:sp>
      <p:sp>
        <p:nvSpPr>
          <p:cNvPr id="15" name="Shape 10"/>
          <p:cNvSpPr/>
          <p:nvPr/>
        </p:nvSpPr>
        <p:spPr>
          <a:xfrm>
            <a:off x="6858000" y="4654296"/>
            <a:ext cx="4782312" cy="1325880"/>
          </a:xfrm>
          <a:prstGeom prst="roundRect">
            <a:avLst>
              <a:gd name="adj" fmla="val 6897"/>
            </a:avLst>
          </a:prstGeom>
          <a:solidFill>
            <a:schemeClr val="accent3"/>
          </a:solidFill>
          <a:ln w="19050">
            <a:solidFill>
              <a:schemeClr val="accent2"/>
            </a:solidFill>
            <a:prstDash val="solid"/>
          </a:ln>
        </p:spPr>
      </p:sp>
      <p:sp>
        <p:nvSpPr>
          <p:cNvPr id="16" name="Shape 11"/>
          <p:cNvSpPr/>
          <p:nvPr/>
        </p:nvSpPr>
        <p:spPr>
          <a:xfrm>
            <a:off x="7059168" y="4837176"/>
            <a:ext cx="502920" cy="502920"/>
          </a:xfrm>
          <a:prstGeom prst="ellipse">
            <a:avLst/>
          </a:prstGeom>
          <a:solidFill>
            <a:schemeClr val="accent2"/>
          </a:solidFill>
          <a:ln w="12700">
            <a:solidFill>
              <a:schemeClr val="accent2"/>
            </a:solidFill>
            <a:prstDash val="solid"/>
          </a:ln>
        </p:spPr>
      </p:sp>
      <p:pic>
        <p:nvPicPr>
          <p:cNvPr id="17" name="Image 3" descr="preencoded.png">    </p:cNvPr>
          <p:cNvPicPr>
            <a:picLocks noChangeAspect="1"/>
          </p:cNvPicPr>
          <p:nvPr/>
        </p:nvPicPr>
        <p:blipFill>
          <a:blip r:embed="rId4"/>
          <a:stretch>
            <a:fillRect/>
          </a:stretch>
        </p:blipFill>
        <p:spPr>
          <a:xfrm>
            <a:off x="7179869" y="4957877"/>
            <a:ext cx="261518" cy="261518"/>
          </a:xfrm>
          <a:prstGeom prst="rect">
            <a:avLst/>
          </a:prstGeom>
        </p:spPr>
      </p:pic>
      <p:sp>
        <p:nvSpPr>
          <p:cNvPr id="18" name="Text 12"/>
          <p:cNvSpPr txBox="1"/>
          <p:nvPr/>
        </p:nvSpPr>
        <p:spPr>
          <a:xfrm>
            <a:off x="7726680" y="4837176"/>
            <a:ext cx="3749040" cy="365760"/>
          </a:xfrm>
          <a:prstGeom prst="rect">
            <a:avLst/>
          </a:prstGeom>
          <a:noFill/>
          <a:ln/>
        </p:spPr>
        <p:txBody>
          <a:bodyPr wrap="square" lIns="0" tIns="0" rIns="0" bIns="0" rtlCol="0" anchor="ctr"/>
          <a:lstStyle/>
          <a:p>
            <a:pPr indent="0" marL="0">
              <a:buNone/>
            </a:pPr>
            <a:r>
              <a:rPr lang="en-US" sz="1600" b="1" dirty="0">
                <a:solidFill>
                  <a:schemeClr val="tx2"/>
                </a:solidFill>
              </a:rPr>
              <a:t>Arbitration</a:t>
            </a:r>
            <a:endParaRPr lang="en-US" sz="1600" dirty="0"/>
          </a:p>
        </p:txBody>
      </p:sp>
      <p:sp>
        <p:nvSpPr>
          <p:cNvPr id="19" name="Text 13"/>
          <p:cNvSpPr txBox="1"/>
          <p:nvPr/>
        </p:nvSpPr>
        <p:spPr>
          <a:xfrm>
            <a:off x="7726680" y="5221224"/>
            <a:ext cx="3794760" cy="713232"/>
          </a:xfrm>
          <a:prstGeom prst="rect">
            <a:avLst/>
          </a:prstGeom>
          <a:noFill/>
          <a:ln/>
        </p:spPr>
        <p:txBody>
          <a:bodyPr wrap="square" lIns="0" tIns="0" rIns="0" bIns="0" rtlCol="0" anchor="t"/>
          <a:lstStyle/>
          <a:p>
            <a:pPr indent="0" marL="0">
              <a:buNone/>
            </a:pPr>
            <a:r>
              <a:rPr lang="en-US" sz="1200" b="1" dirty="0">
                <a:solidFill>
                  <a:schemeClr val="accent1"/>
                </a:solidFill>
              </a:rPr>
              <a:t>control_node</a:t>
            </a:r>
            <a:pPr indent="0" marL="0">
              <a:buNone/>
            </a:pPr>
            <a:r>
              <a:rPr lang="en-US" sz="1200" dirty="0">
                <a:solidFill>
                  <a:schemeClr val="tx1"/>
                </a:solidFill>
              </a:rPr>
              <a:t> — state machine: forwards tracking, Nav2 or teleop velocity, never two at once</a:t>
            </a:r>
            <a:endParaRPr lang="en-US" sz="12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Gesture interaction</a:t>
            </a:r>
            <a:endParaRPr lang="en-US" sz="2800" dirty="0"/>
          </a:p>
        </p:txBody>
      </p:sp>
      <p:sp>
        <p:nvSpPr>
          <p:cNvPr id="3" name="Text 2"/>
          <p:cNvSpPr/>
          <p:nvPr>
            <p:ph idx="105"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Three mutually exclusive gestures, recognized from the MediaPipe Pose skeleton.</a:t>
            </a:r>
            <a:endParaRPr lang="en-US" sz="1600" dirty="0"/>
          </a:p>
        </p:txBody>
      </p:sp>
      <p:sp>
        <p:nvSpPr>
          <p:cNvPr id="4" name="Shape 2"/>
          <p:cNvSpPr/>
          <p:nvPr/>
        </p:nvSpPr>
        <p:spPr>
          <a:xfrm>
            <a:off x="548640" y="1691640"/>
            <a:ext cx="1691640" cy="3017520"/>
          </a:xfrm>
          <a:prstGeom prst="roundRect">
            <a:avLst>
              <a:gd name="adj" fmla="val 5405"/>
            </a:avLst>
          </a:prstGeom>
          <a:solidFill>
            <a:schemeClr val="bg2"/>
          </a:solidFill>
          <a:ln w="9525">
            <a:solidFill>
              <a:schemeClr val="bg2"/>
            </a:solidFill>
            <a:prstDash val="solid"/>
          </a:ln>
        </p:spPr>
      </p:sp>
      <p:pic>
        <p:nvPicPr>
          <p:cNvPr id="5" name="Image 0" descr="C:\Users\Juan.munoz\AppData\Local\Temp\claude\C--Users-Juan-munoz-Desktop-Jmr-tfm-memoria\6d0452c8-2f0a-46f5-9e7c-31797a7e3d61\scratchpad\deck\assets\gesture_start.png">    </p:cNvPr>
          <p:cNvPicPr>
            <a:picLocks noChangeAspect="1"/>
          </p:cNvPicPr>
          <p:nvPr/>
        </p:nvPicPr>
        <p:blipFill>
          <a:blip r:embed="rId1"/>
          <a:stretch>
            <a:fillRect/>
          </a:stretch>
        </p:blipFill>
        <p:spPr>
          <a:xfrm>
            <a:off x="731520" y="1783080"/>
            <a:ext cx="1325880" cy="1528562"/>
          </a:xfrm>
          <a:prstGeom prst="rect">
            <a:avLst/>
          </a:prstGeom>
        </p:spPr>
      </p:pic>
      <p:sp>
        <p:nvSpPr>
          <p:cNvPr id="6" name="Text 3"/>
          <p:cNvSpPr txBox="1"/>
          <p:nvPr/>
        </p:nvSpPr>
        <p:spPr>
          <a:xfrm>
            <a:off x="621792" y="3364992"/>
            <a:ext cx="1545336" cy="548640"/>
          </a:xfrm>
          <a:prstGeom prst="rect">
            <a:avLst/>
          </a:prstGeom>
          <a:noFill/>
          <a:ln/>
        </p:spPr>
        <p:txBody>
          <a:bodyPr wrap="square" lIns="0" tIns="0" rIns="0" bIns="0" rtlCol="0" anchor="t"/>
          <a:lstStyle/>
          <a:p>
            <a:pPr algn="ctr" indent="0" marL="0">
              <a:buNone/>
            </a:pPr>
            <a:r>
              <a:rPr lang="en-US" sz="1300" b="1" dirty="0">
                <a:solidFill>
                  <a:schemeClr val="tx2"/>
                </a:solidFill>
              </a:rPr>
              <a:t>Right hand up</a:t>
            </a:r>
            <a:endParaRPr lang="en-US" sz="1300" dirty="0"/>
          </a:p>
        </p:txBody>
      </p:sp>
      <p:sp>
        <p:nvSpPr>
          <p:cNvPr id="7" name="Text 4"/>
          <p:cNvSpPr/>
          <p:nvPr/>
        </p:nvSpPr>
        <p:spPr>
          <a:xfrm>
            <a:off x="667512" y="4069080"/>
            <a:ext cx="1453896" cy="365760"/>
          </a:xfrm>
          <a:prstGeom prst="roundRect">
            <a:avLst>
              <a:gd name="adj" fmla="val 20000"/>
            </a:avLst>
          </a:prstGeom>
          <a:solidFill>
            <a:schemeClr val="accent1"/>
          </a:solidFill>
          <a:ln w="9525">
            <a:solidFill>
              <a:schemeClr val="accent1"/>
            </a:solidFill>
            <a:prstDash val="solid"/>
          </a:ln>
        </p:spPr>
        <p:txBody>
          <a:bodyPr wrap="square" lIns="508" tIns="508" rIns="508" bIns="508" rtlCol="0" anchor="ctr"/>
          <a:lstStyle/>
          <a:p>
            <a:pPr algn="ctr" indent="0" marL="0">
              <a:buNone/>
            </a:pPr>
            <a:r>
              <a:rPr lang="en-US" sz="1100" b="1" dirty="0">
                <a:solidFill>
                  <a:schemeClr val="bg1"/>
                </a:solidFill>
              </a:rPr>
              <a:t>START following</a:t>
            </a:r>
            <a:endParaRPr lang="en-US" sz="1100" dirty="0"/>
          </a:p>
        </p:txBody>
      </p:sp>
      <p:sp>
        <p:nvSpPr>
          <p:cNvPr id="8" name="Shape 5"/>
          <p:cNvSpPr/>
          <p:nvPr/>
        </p:nvSpPr>
        <p:spPr>
          <a:xfrm>
            <a:off x="2377440" y="1691640"/>
            <a:ext cx="1691640" cy="3017520"/>
          </a:xfrm>
          <a:prstGeom prst="roundRect">
            <a:avLst>
              <a:gd name="adj" fmla="val 5405"/>
            </a:avLst>
          </a:prstGeom>
          <a:solidFill>
            <a:schemeClr val="bg2"/>
          </a:solidFill>
          <a:ln w="9525">
            <a:solidFill>
              <a:schemeClr val="bg2"/>
            </a:solidFill>
            <a:prstDash val="solid"/>
          </a:ln>
        </p:spPr>
      </p:sp>
      <p:pic>
        <p:nvPicPr>
          <p:cNvPr id="9" name="Image 1" descr="C:\Users\Juan.munoz\AppData\Local\Temp\claude\C--Users-Juan-munoz-Desktop-Jmr-tfm-memoria\6d0452c8-2f0a-46f5-9e7c-31797a7e3d61\scratchpad\deck\assets\gesture_stop.png">    </p:cNvPr>
          <p:cNvPicPr>
            <a:picLocks noChangeAspect="1"/>
          </p:cNvPicPr>
          <p:nvPr/>
        </p:nvPicPr>
        <p:blipFill>
          <a:blip r:embed="rId2"/>
          <a:stretch>
            <a:fillRect/>
          </a:stretch>
        </p:blipFill>
        <p:spPr>
          <a:xfrm>
            <a:off x="2560320" y="1783080"/>
            <a:ext cx="1325880" cy="1528562"/>
          </a:xfrm>
          <a:prstGeom prst="rect">
            <a:avLst/>
          </a:prstGeom>
        </p:spPr>
      </p:pic>
      <p:sp>
        <p:nvSpPr>
          <p:cNvPr id="10" name="Text 6"/>
          <p:cNvSpPr txBox="1"/>
          <p:nvPr/>
        </p:nvSpPr>
        <p:spPr>
          <a:xfrm>
            <a:off x="2450592" y="3364992"/>
            <a:ext cx="1545336" cy="548640"/>
          </a:xfrm>
          <a:prstGeom prst="rect">
            <a:avLst/>
          </a:prstGeom>
          <a:noFill/>
          <a:ln/>
        </p:spPr>
        <p:txBody>
          <a:bodyPr wrap="square" lIns="0" tIns="0" rIns="0" bIns="0" rtlCol="0" anchor="t"/>
          <a:lstStyle/>
          <a:p>
            <a:pPr algn="ctr" indent="0" marL="0">
              <a:buNone/>
            </a:pPr>
            <a:r>
              <a:rPr lang="en-US" sz="1300" b="1" dirty="0">
                <a:solidFill>
                  <a:schemeClr val="tx2"/>
                </a:solidFill>
              </a:rPr>
              <a:t>Left hand up</a:t>
            </a:r>
            <a:endParaRPr lang="en-US" sz="1300" dirty="0"/>
          </a:p>
        </p:txBody>
      </p:sp>
      <p:sp>
        <p:nvSpPr>
          <p:cNvPr id="11" name="Text 7"/>
          <p:cNvSpPr/>
          <p:nvPr/>
        </p:nvSpPr>
        <p:spPr>
          <a:xfrm>
            <a:off x="2496312" y="4069080"/>
            <a:ext cx="1453896" cy="365760"/>
          </a:xfrm>
          <a:prstGeom prst="roundRect">
            <a:avLst>
              <a:gd name="adj" fmla="val 20000"/>
            </a:avLst>
          </a:prstGeom>
          <a:solidFill>
            <a:schemeClr val="accent1"/>
          </a:solidFill>
          <a:ln w="9525">
            <a:solidFill>
              <a:schemeClr val="accent1"/>
            </a:solidFill>
            <a:prstDash val="solid"/>
          </a:ln>
        </p:spPr>
        <p:txBody>
          <a:bodyPr wrap="square" lIns="508" tIns="508" rIns="508" bIns="508" rtlCol="0" anchor="ctr"/>
          <a:lstStyle/>
          <a:p>
            <a:pPr algn="ctr" indent="0" marL="0">
              <a:buNone/>
            </a:pPr>
            <a:r>
              <a:rPr lang="en-US" sz="1100" b="1" dirty="0">
                <a:solidFill>
                  <a:schemeClr val="bg1"/>
                </a:solidFill>
              </a:rPr>
              <a:t>STOP · cancel</a:t>
            </a:r>
            <a:endParaRPr lang="en-US" sz="1100" dirty="0"/>
          </a:p>
        </p:txBody>
      </p:sp>
      <p:sp>
        <p:nvSpPr>
          <p:cNvPr id="12" name="Shape 8"/>
          <p:cNvSpPr/>
          <p:nvPr/>
        </p:nvSpPr>
        <p:spPr>
          <a:xfrm>
            <a:off x="4206240" y="1691640"/>
            <a:ext cx="1691640" cy="3017520"/>
          </a:xfrm>
          <a:prstGeom prst="roundRect">
            <a:avLst>
              <a:gd name="adj" fmla="val 5405"/>
            </a:avLst>
          </a:prstGeom>
          <a:solidFill>
            <a:schemeClr val="bg2"/>
          </a:solidFill>
          <a:ln w="9525">
            <a:solidFill>
              <a:schemeClr val="bg2"/>
            </a:solidFill>
            <a:prstDash val="solid"/>
          </a:ln>
        </p:spPr>
      </p:sp>
      <p:pic>
        <p:nvPicPr>
          <p:cNvPr id="13" name="Image 2" descr="C:\Users\Juan.munoz\AppData\Local\Temp\claude\C--Users-Juan-munoz-Desktop-Jmr-tfm-memoria\6d0452c8-2f0a-46f5-9e7c-31797a7e3d61\scratchpad\deck\assets\gesture_home.png">    </p:cNvPr>
          <p:cNvPicPr>
            <a:picLocks noChangeAspect="1"/>
          </p:cNvPicPr>
          <p:nvPr/>
        </p:nvPicPr>
        <p:blipFill>
          <a:blip r:embed="rId3"/>
          <a:stretch>
            <a:fillRect/>
          </a:stretch>
        </p:blipFill>
        <p:spPr>
          <a:xfrm>
            <a:off x="4389120" y="1783080"/>
            <a:ext cx="1325880" cy="1528562"/>
          </a:xfrm>
          <a:prstGeom prst="rect">
            <a:avLst/>
          </a:prstGeom>
        </p:spPr>
      </p:pic>
      <p:sp>
        <p:nvSpPr>
          <p:cNvPr id="14" name="Text 9"/>
          <p:cNvSpPr txBox="1"/>
          <p:nvPr/>
        </p:nvSpPr>
        <p:spPr>
          <a:xfrm>
            <a:off x="4279392" y="3364992"/>
            <a:ext cx="1545336" cy="548640"/>
          </a:xfrm>
          <a:prstGeom prst="rect">
            <a:avLst/>
          </a:prstGeom>
          <a:noFill/>
          <a:ln/>
        </p:spPr>
        <p:txBody>
          <a:bodyPr wrap="square" lIns="0" tIns="0" rIns="0" bIns="0" rtlCol="0" anchor="t"/>
          <a:lstStyle/>
          <a:p>
            <a:pPr algn="ctr" indent="0" marL="0">
              <a:buNone/>
            </a:pPr>
            <a:r>
              <a:rPr lang="en-US" sz="1300" b="1" dirty="0">
                <a:solidFill>
                  <a:schemeClr val="tx2"/>
                </a:solidFill>
              </a:rPr>
              <a:t>“Roof” above the head</a:t>
            </a:r>
            <a:endParaRPr lang="en-US" sz="1300" dirty="0"/>
          </a:p>
        </p:txBody>
      </p:sp>
      <p:sp>
        <p:nvSpPr>
          <p:cNvPr id="15" name="Text 10"/>
          <p:cNvSpPr/>
          <p:nvPr/>
        </p:nvSpPr>
        <p:spPr>
          <a:xfrm>
            <a:off x="4325112" y="4069080"/>
            <a:ext cx="1453896" cy="365760"/>
          </a:xfrm>
          <a:prstGeom prst="roundRect">
            <a:avLst>
              <a:gd name="adj" fmla="val 20000"/>
            </a:avLst>
          </a:prstGeom>
          <a:solidFill>
            <a:schemeClr val="accent2"/>
          </a:solidFill>
          <a:ln w="9525">
            <a:solidFill>
              <a:schemeClr val="accent2"/>
            </a:solidFill>
            <a:prstDash val="solid"/>
          </a:ln>
        </p:spPr>
        <p:txBody>
          <a:bodyPr wrap="square" lIns="508" tIns="508" rIns="508" bIns="508" rtlCol="0" anchor="ctr"/>
          <a:lstStyle/>
          <a:p>
            <a:pPr algn="ctr" indent="0" marL="0">
              <a:buNone/>
            </a:pPr>
            <a:r>
              <a:rPr lang="en-US" sz="1100" b="1" dirty="0">
                <a:solidFill>
                  <a:schemeClr val="bg1"/>
                </a:solidFill>
              </a:rPr>
              <a:t>RETURN HOME</a:t>
            </a:r>
            <a:endParaRPr lang="en-US" sz="1100" dirty="0"/>
          </a:p>
        </p:txBody>
      </p:sp>
      <p:sp>
        <p:nvSpPr>
          <p:cNvPr id="16" name="Text 11"/>
          <p:cNvSpPr txBox="1"/>
          <p:nvPr/>
        </p:nvSpPr>
        <p:spPr>
          <a:xfrm>
            <a:off x="548640" y="4773168"/>
            <a:ext cx="5303520" cy="274320"/>
          </a:xfrm>
          <a:prstGeom prst="rect">
            <a:avLst/>
          </a:prstGeom>
          <a:noFill/>
          <a:ln/>
        </p:spPr>
        <p:txBody>
          <a:bodyPr wrap="square" lIns="0" tIns="0" rIns="0" bIns="0" rtlCol="0" anchor="t"/>
          <a:lstStyle/>
          <a:p>
            <a:pPr indent="0" marL="0">
              <a:buNone/>
            </a:pPr>
            <a:r>
              <a:rPr lang="en-US" sz="1000" i="1" dirty="0">
                <a:solidFill>
                  <a:schemeClr val="accent6"/>
                </a:solidFill>
              </a:rPr>
              <a:t>Camera view: the person’s right hand appears on the left.</a:t>
            </a:r>
            <a:endParaRPr lang="en-US" sz="1000" dirty="0"/>
          </a:p>
        </p:txBody>
      </p:sp>
      <p:pic>
        <p:nvPicPr>
          <p:cNvPr id="17" name="Image 3" descr="preencoded.png">    </p:cNvPr>
          <p:cNvPicPr>
            <a:picLocks noChangeAspect="1"/>
          </p:cNvPicPr>
          <p:nvPr/>
        </p:nvPicPr>
        <p:blipFill>
          <a:blip r:embed="rId4"/>
          <a:stretch>
            <a:fillRect/>
          </a:stretch>
        </p:blipFill>
        <p:spPr>
          <a:xfrm>
            <a:off x="566928" y="5175504"/>
            <a:ext cx="201168" cy="201168"/>
          </a:xfrm>
          <a:prstGeom prst="rect">
            <a:avLst/>
          </a:prstGeom>
        </p:spPr>
      </p:pic>
      <p:sp>
        <p:nvSpPr>
          <p:cNvPr id="18" name="Text 12"/>
          <p:cNvSpPr txBox="1"/>
          <p:nvPr/>
        </p:nvSpPr>
        <p:spPr>
          <a:xfrm>
            <a:off x="896112" y="5120640"/>
            <a:ext cx="5120640" cy="329184"/>
          </a:xfrm>
          <a:prstGeom prst="rect">
            <a:avLst/>
          </a:prstGeom>
          <a:noFill/>
          <a:ln/>
        </p:spPr>
        <p:txBody>
          <a:bodyPr wrap="square" lIns="0" tIns="0" rIns="0" bIns="0" rtlCol="0" anchor="ctr"/>
          <a:lstStyle/>
          <a:p>
            <a:pPr indent="0" marL="0">
              <a:buNone/>
            </a:pPr>
            <a:r>
              <a:rPr lang="en-US" sz="1300" dirty="0">
                <a:solidFill>
                  <a:schemeClr val="tx1"/>
                </a:solidFill>
              </a:rPr>
              <a:t>Confirmed over several consecutive frames, with a cooldown between commands</a:t>
            </a:r>
            <a:endParaRPr lang="en-US" sz="1300" dirty="0"/>
          </a:p>
        </p:txBody>
      </p:sp>
      <p:pic>
        <p:nvPicPr>
          <p:cNvPr id="19" name="Image 4" descr="preencoded.png">    </p:cNvPr>
          <p:cNvPicPr>
            <a:picLocks noChangeAspect="1"/>
          </p:cNvPicPr>
          <p:nvPr/>
        </p:nvPicPr>
        <p:blipFill>
          <a:blip r:embed="rId5"/>
          <a:stretch>
            <a:fillRect/>
          </a:stretch>
        </p:blipFill>
        <p:spPr>
          <a:xfrm>
            <a:off x="566928" y="5559552"/>
            <a:ext cx="201168" cy="201168"/>
          </a:xfrm>
          <a:prstGeom prst="rect">
            <a:avLst/>
          </a:prstGeom>
        </p:spPr>
      </p:pic>
      <p:sp>
        <p:nvSpPr>
          <p:cNvPr id="20" name="Text 13"/>
          <p:cNvSpPr txBox="1"/>
          <p:nvPr/>
        </p:nvSpPr>
        <p:spPr>
          <a:xfrm>
            <a:off x="896112" y="5504688"/>
            <a:ext cx="5120640" cy="329184"/>
          </a:xfrm>
          <a:prstGeom prst="rect">
            <a:avLst/>
          </a:prstGeom>
          <a:noFill/>
          <a:ln/>
        </p:spPr>
        <p:txBody>
          <a:bodyPr wrap="square" lIns="0" tIns="0" rIns="0" bIns="0" rtlCol="0" anchor="ctr"/>
          <a:lstStyle/>
          <a:p>
            <a:pPr indent="0" marL="0">
              <a:buNone/>
            </a:pPr>
            <a:r>
              <a:rPr lang="en-US" sz="1300" dirty="0">
                <a:solidFill>
                  <a:schemeClr val="tx1"/>
                </a:solidFill>
              </a:rPr>
              <a:t>No false positives in ≈ 4 min of free gesturing</a:t>
            </a:r>
            <a:endParaRPr lang="en-US" sz="1300" dirty="0"/>
          </a:p>
        </p:txBody>
      </p:sp>
      <p:pic>
        <p:nvPicPr>
          <p:cNvPr id="21" name="Image 5" descr="preencoded.png">    </p:cNvPr>
          <p:cNvPicPr>
            <a:picLocks noChangeAspect="1"/>
          </p:cNvPicPr>
          <p:nvPr/>
        </p:nvPicPr>
        <p:blipFill>
          <a:blip r:embed="rId6"/>
          <a:stretch>
            <a:fillRect/>
          </a:stretch>
        </p:blipFill>
        <p:spPr>
          <a:xfrm>
            <a:off x="566928" y="5943600"/>
            <a:ext cx="201168" cy="201168"/>
          </a:xfrm>
          <a:prstGeom prst="rect">
            <a:avLst/>
          </a:prstGeom>
        </p:spPr>
      </p:pic>
      <p:sp>
        <p:nvSpPr>
          <p:cNvPr id="22" name="Text 14"/>
          <p:cNvSpPr txBox="1"/>
          <p:nvPr/>
        </p:nvSpPr>
        <p:spPr>
          <a:xfrm>
            <a:off x="896112" y="5888736"/>
            <a:ext cx="5120640" cy="329184"/>
          </a:xfrm>
          <a:prstGeom prst="rect">
            <a:avLst/>
          </a:prstGeom>
          <a:noFill/>
          <a:ln/>
        </p:spPr>
        <p:txBody>
          <a:bodyPr wrap="square" lIns="0" tIns="0" rIns="0" bIns="0" rtlCol="0" anchor="ctr"/>
          <a:lstStyle/>
          <a:p>
            <a:pPr indent="0" marL="0">
              <a:buNone/>
            </a:pPr>
            <a:r>
              <a:rPr lang="en-US" sz="1300" dirty="0">
                <a:solidFill>
                  <a:schemeClr val="tx1"/>
                </a:solidFill>
              </a:rPr>
              <a:t>The roof is symmetric: also recognized from behind (2 of 2)</a:t>
            </a:r>
            <a:endParaRPr lang="en-US" sz="1300" dirty="0"/>
          </a:p>
        </p:txBody>
      </p:sp>
      <p:sp>
        <p:nvSpPr>
          <p:cNvPr id="23" name="Text 2"/>
          <p:cNvSpPr/>
          <p:nvPr>
            <p:ph idx="103" type="media" hasCustomPrompt="1"/>
          </p:nvPr>
        </p:nvSpPr>
        <p:spPr>
          <a:xfrm>
            <a:off x="6263640" y="1691640"/>
            <a:ext cx="5376672" cy="3026664"/>
          </a:xfrm>
          <a:prstGeom prst="rect">
            <a:avLst/>
          </a:prstGeom>
          <a:noFill/>
          <a:ln/>
        </p:spPr>
        <p:txBody>
          <a:bodyPr wrap="square" rtlCol="0" anchor="b"/>
          <a:lstStyle/>
          <a:p>
            <a:pPr algn="ctr" indent="0" marL="0">
              <a:buNone/>
            </a:pPr>
            <a:endParaRPr lang="en-US" sz="1200" dirty="0"/>
          </a:p>
        </p:txBody>
      </p:sp>
      <p:sp>
        <p:nvSpPr>
          <p:cNvPr id="24" name="Text 16"/>
          <p:cNvSpPr txBox="1"/>
          <p:nvPr/>
        </p:nvSpPr>
        <p:spPr>
          <a:xfrm>
            <a:off x="6263640" y="4855464"/>
            <a:ext cx="5376672" cy="457200"/>
          </a:xfrm>
          <a:prstGeom prst="rect">
            <a:avLst/>
          </a:prstGeom>
          <a:noFill/>
          <a:ln/>
        </p:spPr>
        <p:txBody>
          <a:bodyPr wrap="square" lIns="0" tIns="0" rIns="0" bIns="0" rtlCol="0" anchor="t"/>
          <a:lstStyle/>
          <a:p>
            <a:pPr indent="0" marL="0">
              <a:buNone/>
            </a:pPr>
            <a:r>
              <a:rPr lang="en-US" sz="1100" b="1" dirty="0">
                <a:solidFill>
                  <a:schemeClr val="accent2"/>
                </a:solidFill>
              </a:rPr>
              <a:t>VIDEO 1  </a:t>
            </a:r>
            <a:pPr indent="0" marL="0">
              <a:buNone/>
            </a:pPr>
            <a:r>
              <a:rPr lang="en-US" sz="1100" dirty="0">
                <a:solidFill>
                  <a:schemeClr val="accent6"/>
                </a:solidFill>
              </a:rPr>
              <a:t>The three gestures recognized live (right hand → left hand → roof).</a:t>
            </a:r>
            <a:endParaRPr lang="en-US" sz="11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Detection and LiDAR–camera fusion</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Legs from the LiDAR first; the camera only steps in when no valid leg pair is found.</a:t>
            </a:r>
            <a:endParaRPr lang="en-US" sz="1600" dirty="0"/>
          </a:p>
        </p:txBody>
      </p:sp>
      <p:sp>
        <p:nvSpPr>
          <p:cNvPr id="4" name="Text 2"/>
          <p:cNvSpPr/>
          <p:nvPr/>
        </p:nvSpPr>
        <p:spPr>
          <a:xfrm>
            <a:off x="548640" y="1691640"/>
            <a:ext cx="1965960" cy="868680"/>
          </a:xfrm>
          <a:prstGeom prst="roundRect">
            <a:avLst>
              <a:gd name="adj" fmla="val 8421"/>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300" dirty="0">
                <a:solidFill>
                  <a:schemeClr val="tx2"/>
                </a:solidFill>
              </a:rPr>
              <a:t>Scan</a:t>
            </a:r>
            <a:endParaRPr lang="en-US" sz="1300" dirty="0"/>
          </a:p>
          <a:p>
            <a:pPr algn="ctr" indent="0" marL="0">
              <a:buNone/>
            </a:pPr>
            <a:r>
              <a:rPr lang="en-US" sz="1300" dirty="0">
                <a:solidFill>
                  <a:schemeClr val="tx2"/>
                </a:solidFill>
              </a:rPr>
              <a:t>300–400 points</a:t>
            </a:r>
            <a:endParaRPr lang="en-US" sz="1300" dirty="0"/>
          </a:p>
        </p:txBody>
      </p:sp>
      <p:sp>
        <p:nvSpPr>
          <p:cNvPr id="5" name="Shape 3"/>
          <p:cNvSpPr/>
          <p:nvPr/>
        </p:nvSpPr>
        <p:spPr>
          <a:xfrm>
            <a:off x="2532888" y="2125980"/>
            <a:ext cx="265176" cy="0"/>
          </a:xfrm>
          <a:prstGeom prst="line">
            <a:avLst/>
          </a:prstGeom>
          <a:noFill/>
          <a:ln w="19050">
            <a:solidFill>
              <a:schemeClr val="accent6"/>
            </a:solidFill>
            <a:prstDash val="solid"/>
            <a:tailEnd type="triangle"/>
          </a:ln>
        </p:spPr>
      </p:sp>
      <p:sp>
        <p:nvSpPr>
          <p:cNvPr id="6" name="Text 4"/>
          <p:cNvSpPr/>
          <p:nvPr/>
        </p:nvSpPr>
        <p:spPr>
          <a:xfrm>
            <a:off x="2816352" y="1691640"/>
            <a:ext cx="1965960" cy="868680"/>
          </a:xfrm>
          <a:prstGeom prst="roundRect">
            <a:avLst>
              <a:gd name="adj" fmla="val 8421"/>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300" dirty="0">
                <a:solidFill>
                  <a:schemeClr val="tx2"/>
                </a:solidFill>
              </a:rPr>
              <a:t>Median filter</a:t>
            </a:r>
            <a:endParaRPr lang="en-US" sz="1300" dirty="0"/>
          </a:p>
          <a:p>
            <a:pPr algn="ctr" indent="0" marL="0">
              <a:buNone/>
            </a:pPr>
            <a:r>
              <a:rPr lang="en-US" sz="1300" dirty="0">
                <a:solidFill>
                  <a:schemeClr val="tx2"/>
                </a:solidFill>
              </a:rPr>
              <a:t>+ interpolation</a:t>
            </a:r>
            <a:endParaRPr lang="en-US" sz="1300" dirty="0"/>
          </a:p>
        </p:txBody>
      </p:sp>
      <p:sp>
        <p:nvSpPr>
          <p:cNvPr id="7" name="Shape 5"/>
          <p:cNvSpPr/>
          <p:nvPr/>
        </p:nvSpPr>
        <p:spPr>
          <a:xfrm>
            <a:off x="4800600" y="2125980"/>
            <a:ext cx="265176" cy="0"/>
          </a:xfrm>
          <a:prstGeom prst="line">
            <a:avLst/>
          </a:prstGeom>
          <a:noFill/>
          <a:ln w="19050">
            <a:solidFill>
              <a:schemeClr val="accent6"/>
            </a:solidFill>
            <a:prstDash val="solid"/>
            <a:tailEnd type="triangle"/>
          </a:ln>
        </p:spPr>
      </p:sp>
      <p:sp>
        <p:nvSpPr>
          <p:cNvPr id="8" name="Text 6"/>
          <p:cNvSpPr/>
          <p:nvPr/>
        </p:nvSpPr>
        <p:spPr>
          <a:xfrm>
            <a:off x="5084064" y="1691640"/>
            <a:ext cx="1965960" cy="868680"/>
          </a:xfrm>
          <a:prstGeom prst="roundRect">
            <a:avLst>
              <a:gd name="adj" fmla="val 8421"/>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300" dirty="0">
                <a:solidFill>
                  <a:schemeClr val="tx2"/>
                </a:solidFill>
              </a:rPr>
              <a:t>DBSCAN</a:t>
            </a:r>
            <a:endParaRPr lang="en-US" sz="1300" dirty="0"/>
          </a:p>
          <a:p>
            <a:pPr algn="ctr" indent="0" marL="0">
              <a:buNone/>
            </a:pPr>
            <a:r>
              <a:rPr lang="en-US" sz="1300" dirty="0">
                <a:solidFill>
                  <a:schemeClr val="tx2"/>
                </a:solidFill>
              </a:rPr>
              <a:t>eps 0.12 m · min 4</a:t>
            </a:r>
            <a:endParaRPr lang="en-US" sz="1300" dirty="0"/>
          </a:p>
        </p:txBody>
      </p:sp>
      <p:sp>
        <p:nvSpPr>
          <p:cNvPr id="9" name="Shape 7"/>
          <p:cNvSpPr/>
          <p:nvPr/>
        </p:nvSpPr>
        <p:spPr>
          <a:xfrm>
            <a:off x="7068312" y="2125980"/>
            <a:ext cx="265176" cy="0"/>
          </a:xfrm>
          <a:prstGeom prst="line">
            <a:avLst/>
          </a:prstGeom>
          <a:noFill/>
          <a:ln w="19050">
            <a:solidFill>
              <a:schemeClr val="accent6"/>
            </a:solidFill>
            <a:prstDash val="solid"/>
            <a:tailEnd type="triangle"/>
          </a:ln>
        </p:spPr>
      </p:sp>
      <p:sp>
        <p:nvSpPr>
          <p:cNvPr id="10" name="Text 8"/>
          <p:cNvSpPr/>
          <p:nvPr/>
        </p:nvSpPr>
        <p:spPr>
          <a:xfrm>
            <a:off x="7351776" y="1691640"/>
            <a:ext cx="1965960" cy="868680"/>
          </a:xfrm>
          <a:prstGeom prst="roundRect">
            <a:avLst>
              <a:gd name="adj" fmla="val 8421"/>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300" dirty="0">
                <a:solidFill>
                  <a:schemeClr val="tx2"/>
                </a:solidFill>
              </a:rPr>
              <a:t>Leg filter</a:t>
            </a:r>
            <a:endParaRPr lang="en-US" sz="1300" dirty="0"/>
          </a:p>
          <a:p>
            <a:pPr algn="ctr" indent="0" marL="0">
              <a:buNone/>
            </a:pPr>
            <a:r>
              <a:rPr lang="en-US" sz="1300" dirty="0">
                <a:solidFill>
                  <a:schemeClr val="tx2"/>
                </a:solidFill>
              </a:rPr>
              <a:t>size · radius · shape</a:t>
            </a:r>
            <a:endParaRPr lang="en-US" sz="1300" dirty="0"/>
          </a:p>
        </p:txBody>
      </p:sp>
      <p:sp>
        <p:nvSpPr>
          <p:cNvPr id="11" name="Shape 9"/>
          <p:cNvSpPr/>
          <p:nvPr/>
        </p:nvSpPr>
        <p:spPr>
          <a:xfrm>
            <a:off x="9336024" y="2125980"/>
            <a:ext cx="265176" cy="0"/>
          </a:xfrm>
          <a:prstGeom prst="line">
            <a:avLst/>
          </a:prstGeom>
          <a:noFill/>
          <a:ln w="19050">
            <a:solidFill>
              <a:schemeClr val="accent6"/>
            </a:solidFill>
            <a:prstDash val="solid"/>
            <a:tailEnd type="triangle"/>
          </a:ln>
        </p:spPr>
      </p:sp>
      <p:sp>
        <p:nvSpPr>
          <p:cNvPr id="12" name="Text 10"/>
          <p:cNvSpPr/>
          <p:nvPr/>
        </p:nvSpPr>
        <p:spPr>
          <a:xfrm>
            <a:off x="9619488" y="1691640"/>
            <a:ext cx="1965960" cy="868680"/>
          </a:xfrm>
          <a:prstGeom prst="roundRect">
            <a:avLst>
              <a:gd name="adj" fmla="val 8421"/>
            </a:avLst>
          </a:prstGeom>
          <a:solidFill>
            <a:schemeClr val="tx2"/>
          </a:solidFill>
          <a:ln w="9525">
            <a:solidFill>
              <a:schemeClr val="tx2"/>
            </a:solidFill>
            <a:prstDash val="solid"/>
          </a:ln>
        </p:spPr>
        <p:txBody>
          <a:bodyPr wrap="square" lIns="508" tIns="508" rIns="508" bIns="508" rtlCol="0" anchor="ctr"/>
          <a:lstStyle/>
          <a:p>
            <a:pPr algn="ctr" indent="0" marL="0">
              <a:buNone/>
            </a:pPr>
            <a:r>
              <a:rPr lang="en-US" sz="1300" b="1" dirty="0">
                <a:solidFill>
                  <a:schemeClr val="bg1"/>
                </a:solidFill>
              </a:rPr>
              <a:t>Leg pair →</a:t>
            </a:r>
            <a:endParaRPr lang="en-US" sz="1300" dirty="0"/>
          </a:p>
          <a:p>
            <a:pPr algn="ctr" indent="0" marL="0">
              <a:buNone/>
            </a:pPr>
            <a:r>
              <a:rPr lang="en-US" sz="1300" b="1" dirty="0">
                <a:solidFill>
                  <a:schemeClr val="bg1"/>
                </a:solidFill>
              </a:rPr>
              <a:t>/person_position</a:t>
            </a:r>
            <a:endParaRPr lang="en-US" sz="1300" dirty="0"/>
          </a:p>
        </p:txBody>
      </p:sp>
      <p:sp>
        <p:nvSpPr>
          <p:cNvPr id="13" name="Text 11"/>
          <p:cNvSpPr/>
          <p:nvPr/>
        </p:nvSpPr>
        <p:spPr>
          <a:xfrm>
            <a:off x="5084064" y="2852928"/>
            <a:ext cx="6556248" cy="502920"/>
          </a:xfrm>
          <a:prstGeom prst="roundRect">
            <a:avLst>
              <a:gd name="adj" fmla="val 14545"/>
            </a:avLst>
          </a:prstGeom>
          <a:solidFill>
            <a:schemeClr val="accent3"/>
          </a:solidFill>
          <a:ln w="15875">
            <a:solidFill>
              <a:schemeClr val="accent2"/>
            </a:solidFill>
            <a:prstDash val="dash"/>
          </a:ln>
        </p:spPr>
        <p:txBody>
          <a:bodyPr wrap="square" lIns="508" tIns="508" rIns="508" bIns="508" rtlCol="0" anchor="ctr"/>
          <a:lstStyle/>
          <a:p>
            <a:pPr algn="ctr" indent="0" marL="0">
              <a:buNone/>
            </a:pPr>
            <a:r>
              <a:rPr lang="en-US" sz="1300" b="1" dirty="0">
                <a:solidFill>
                  <a:schemeClr val="tx2"/>
                </a:solidFill>
              </a:rPr>
              <a:t>No valid pair?  Use the cluster best aligned with the camera bearing</a:t>
            </a:r>
            <a:endParaRPr lang="en-US" sz="1300" dirty="0"/>
          </a:p>
        </p:txBody>
      </p:sp>
      <p:sp>
        <p:nvSpPr>
          <p:cNvPr id="14" name="Shape 12"/>
          <p:cNvSpPr/>
          <p:nvPr/>
        </p:nvSpPr>
        <p:spPr>
          <a:xfrm>
            <a:off x="7680960" y="2578608"/>
            <a:ext cx="0" cy="256032"/>
          </a:xfrm>
          <a:prstGeom prst="line">
            <a:avLst/>
          </a:prstGeom>
          <a:noFill/>
          <a:ln w="19050">
            <a:solidFill>
              <a:srgbClr val="D98E04"/>
            </a:solidFill>
            <a:prstDash val="solid"/>
            <a:tailEnd type="triangle"/>
          </a:ln>
        </p:spPr>
      </p:sp>
      <p:pic>
        <p:nvPicPr>
          <p:cNvPr id="15" name="Fig 3.2 detection example" descr="C:\Users\Juan.munoz\AppData\Local\Temp\claude\C--Users-Juan-munoz-Desktop-Jmr-tfm-memoria\6d0452c8-2f0a-46f5-9e7c-31797a7e3d61\scratchpad\deck\assets\en_fig3.2.png">    </p:cNvPr>
          <p:cNvPicPr>
            <a:picLocks noChangeAspect="1"/>
          </p:cNvPicPr>
          <p:nvPr/>
        </p:nvPicPr>
        <p:blipFill>
          <a:blip r:embed="rId1"/>
          <a:stretch>
            <a:fillRect/>
          </a:stretch>
        </p:blipFill>
        <p:spPr>
          <a:xfrm>
            <a:off x="548640" y="3584448"/>
            <a:ext cx="6675120" cy="2495914"/>
          </a:xfrm>
          <a:prstGeom prst="rect">
            <a:avLst/>
          </a:prstGeom>
        </p:spPr>
      </p:pic>
      <p:sp>
        <p:nvSpPr>
          <p:cNvPr id="16" name="Text 13"/>
          <p:cNvSpPr txBox="1"/>
          <p:nvPr/>
        </p:nvSpPr>
        <p:spPr>
          <a:xfrm>
            <a:off x="548640" y="6108192"/>
            <a:ext cx="6858000" cy="228600"/>
          </a:xfrm>
          <a:prstGeom prst="rect">
            <a:avLst/>
          </a:prstGeom>
          <a:noFill/>
          <a:ln/>
        </p:spPr>
        <p:txBody>
          <a:bodyPr wrap="square" lIns="0" tIns="0" rIns="0" bIns="0" rtlCol="0" anchor="t"/>
          <a:lstStyle/>
          <a:p>
            <a:pPr indent="0" marL="0">
              <a:buNone/>
            </a:pPr>
            <a:r>
              <a:rPr lang="en-US" sz="1000" i="1" dirty="0">
                <a:solidFill>
                  <a:schemeClr val="accent6"/>
                </a:solidFill>
              </a:rPr>
              <a:t>Real take, straight line (22/07/2026): measured distance and detected positions.</a:t>
            </a:r>
            <a:endParaRPr lang="en-US" sz="1000" dirty="0"/>
          </a:p>
        </p:txBody>
      </p:sp>
      <p:sp>
        <p:nvSpPr>
          <p:cNvPr id="17" name="Text 14"/>
          <p:cNvSpPr txBox="1"/>
          <p:nvPr/>
        </p:nvSpPr>
        <p:spPr>
          <a:xfrm>
            <a:off x="8001000" y="3611880"/>
            <a:ext cx="3566160" cy="777240"/>
          </a:xfrm>
          <a:prstGeom prst="rect">
            <a:avLst/>
          </a:prstGeom>
          <a:noFill/>
          <a:ln/>
        </p:spPr>
        <p:txBody>
          <a:bodyPr wrap="square" lIns="0" tIns="0" rIns="0" bIns="0" rtlCol="0" anchor="t"/>
          <a:lstStyle/>
          <a:p>
            <a:pPr indent="0" marL="0">
              <a:buNone/>
            </a:pPr>
            <a:r>
              <a:rPr lang="en-US" sz="4800" b="1" dirty="0">
                <a:solidFill>
                  <a:schemeClr val="accent1"/>
                </a:solidFill>
              </a:rPr>
              <a:t>100%</a:t>
            </a:r>
            <a:endParaRPr lang="en-US" sz="4800" dirty="0"/>
          </a:p>
        </p:txBody>
      </p:sp>
      <p:sp>
        <p:nvSpPr>
          <p:cNvPr id="18" name="Text 15"/>
          <p:cNvSpPr txBox="1"/>
          <p:nvPr/>
        </p:nvSpPr>
        <p:spPr>
          <a:xfrm>
            <a:off x="8001000" y="4389120"/>
            <a:ext cx="3566160" cy="320040"/>
          </a:xfrm>
          <a:prstGeom prst="rect">
            <a:avLst/>
          </a:prstGeom>
          <a:noFill/>
          <a:ln/>
        </p:spPr>
        <p:txBody>
          <a:bodyPr wrap="square" lIns="0" tIns="0" rIns="0" bIns="0" rtlCol="0" anchor="t"/>
          <a:lstStyle/>
          <a:p>
            <a:pPr indent="0" marL="0">
              <a:buNone/>
            </a:pPr>
            <a:r>
              <a:rPr lang="en-US" sz="1300" dirty="0">
                <a:solidFill>
                  <a:schemeClr val="tx1"/>
                </a:solidFill>
              </a:rPr>
              <a:t>detection with fusion, robot not moving (25/06)</a:t>
            </a:r>
            <a:endParaRPr lang="en-US" sz="1300" dirty="0"/>
          </a:p>
        </p:txBody>
      </p:sp>
      <p:sp>
        <p:nvSpPr>
          <p:cNvPr id="19" name="Text 16"/>
          <p:cNvSpPr txBox="1"/>
          <p:nvPr/>
        </p:nvSpPr>
        <p:spPr>
          <a:xfrm>
            <a:off x="8001000" y="4846320"/>
            <a:ext cx="3566160" cy="640080"/>
          </a:xfrm>
          <a:prstGeom prst="rect">
            <a:avLst/>
          </a:prstGeom>
          <a:noFill/>
          <a:ln/>
        </p:spPr>
        <p:txBody>
          <a:bodyPr wrap="square" lIns="0" tIns="0" rIns="0" bIns="0" rtlCol="0" anchor="t"/>
          <a:lstStyle/>
          <a:p>
            <a:pPr indent="0" marL="0">
              <a:buNone/>
            </a:pPr>
            <a:r>
              <a:rPr lang="en-US" sz="3600" b="1" dirty="0">
                <a:solidFill>
                  <a:schemeClr val="accent1"/>
                </a:solidFill>
              </a:rPr>
              <a:t>≈ 6°</a:t>
            </a:r>
            <a:endParaRPr lang="en-US" sz="3600" dirty="0"/>
          </a:p>
        </p:txBody>
      </p:sp>
      <p:sp>
        <p:nvSpPr>
          <p:cNvPr id="20" name="Text 17"/>
          <p:cNvSpPr txBox="1"/>
          <p:nvPr/>
        </p:nvSpPr>
        <p:spPr>
          <a:xfrm>
            <a:off x="8001000" y="5486400"/>
            <a:ext cx="3566160" cy="320040"/>
          </a:xfrm>
          <a:prstGeom prst="rect">
            <a:avLst/>
          </a:prstGeom>
          <a:noFill/>
          <a:ln/>
        </p:spPr>
        <p:txBody>
          <a:bodyPr wrap="square" lIns="0" tIns="0" rIns="0" bIns="0" rtlCol="0" anchor="t"/>
          <a:lstStyle/>
          <a:p>
            <a:pPr indent="0" marL="0">
              <a:buNone/>
            </a:pPr>
            <a:r>
              <a:rPr lang="en-US" sz="1300" dirty="0">
                <a:solidFill>
                  <a:schemeClr val="tx1"/>
                </a:solidFill>
              </a:rPr>
              <a:t>camera bearing vs. chosen LiDAR cluster</a:t>
            </a:r>
            <a:endParaRPr lang="en-US" sz="1300" dirty="0"/>
          </a:p>
        </p:txBody>
      </p:sp>
      <p:sp>
        <p:nvSpPr>
          <p:cNvPr id="21" name="Text 18"/>
          <p:cNvSpPr txBox="1"/>
          <p:nvPr/>
        </p:nvSpPr>
        <p:spPr>
          <a:xfrm>
            <a:off x="8001000" y="5897880"/>
            <a:ext cx="3611880" cy="411480"/>
          </a:xfrm>
          <a:prstGeom prst="rect">
            <a:avLst/>
          </a:prstGeom>
          <a:noFill/>
          <a:ln/>
        </p:spPr>
        <p:txBody>
          <a:bodyPr wrap="square" lIns="0" tIns="0" rIns="0" bIns="0" rtlCol="0" anchor="t"/>
          <a:lstStyle/>
          <a:p>
            <a:pPr indent="0" marL="0">
              <a:buNone/>
            </a:pPr>
            <a:r>
              <a:rPr lang="en-US" sz="1100" i="1" dirty="0">
                <a:solidFill>
                  <a:schemeClr val="accent6"/>
                </a:solidFill>
              </a:rPr>
              <a:t>Before the fallback, tracking stopped after 30 s without legs.</a:t>
            </a:r>
            <a:endParaRPr lang="en-US" sz="11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Tracking and safety</a:t>
            </a:r>
            <a:endParaRPr lang="en-US" sz="2800" dirty="0"/>
          </a:p>
        </p:txBody>
      </p:sp>
      <p:sp>
        <p:nvSpPr>
          <p:cNvPr id="3" name="Text 2"/>
          <p:cNvSpPr/>
          <p:nvPr>
            <p:ph idx="105"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A Kalman filter absorbs intermittent detections; a reactive layer keeps the robot off obstacles.</a:t>
            </a:r>
            <a:endParaRPr lang="en-US" sz="1600" dirty="0"/>
          </a:p>
        </p:txBody>
      </p:sp>
      <p:graphicFrame>
        <p:nvGraphicFramePr>
          <p:cNvPr id="4" name="Detection progression chart" descr=""/>
          <p:cNvGraphicFramePr/>
          <p:nvPr/>
        </p:nvGraphicFramePr>
        <p:xfrm>
          <a:off x="457200" y="1600200"/>
          <a:ext cx="5577840" cy="2606040"/>
        </p:xfrm>
        <a:graphic xmlns:a="http://schemas.openxmlformats.org/drawingml/2006/main">
          <a:graphicData uri="http://schemas.openxmlformats.org/drawingml/2006/chart">
            <c:chart xmlns:c="http://schemas.openxmlformats.org/drawingml/2006/chart" r:id="rId1"/>
          </a:graphicData>
        </a:graphic>
      </p:graphicFrame>
      <p:pic>
        <p:nvPicPr>
          <p:cNvPr id="5" name="Image 0" descr="preencoded.png">    </p:cNvPr>
          <p:cNvPicPr>
            <a:picLocks noChangeAspect="1"/>
          </p:cNvPicPr>
          <p:nvPr/>
        </p:nvPicPr>
        <p:blipFill>
          <a:blip r:embed="rId2"/>
          <a:stretch>
            <a:fillRect/>
          </a:stretch>
        </p:blipFill>
        <p:spPr>
          <a:xfrm>
            <a:off x="566928" y="4443984"/>
            <a:ext cx="201168" cy="201168"/>
          </a:xfrm>
          <a:prstGeom prst="rect">
            <a:avLst/>
          </a:prstGeom>
        </p:spPr>
      </p:pic>
      <p:sp>
        <p:nvSpPr>
          <p:cNvPr id="6" name="Text 2"/>
          <p:cNvSpPr txBox="1"/>
          <p:nvPr/>
        </p:nvSpPr>
        <p:spPr>
          <a:xfrm>
            <a:off x="896112" y="4389120"/>
            <a:ext cx="5120640" cy="548640"/>
          </a:xfrm>
          <a:prstGeom prst="rect">
            <a:avLst/>
          </a:prstGeom>
          <a:noFill/>
          <a:ln/>
        </p:spPr>
        <p:txBody>
          <a:bodyPr wrap="square" lIns="0" tIns="0" rIns="0" bIns="0" rtlCol="0" anchor="t"/>
          <a:lstStyle/>
          <a:p>
            <a:pPr indent="0" marL="0">
              <a:buNone/>
            </a:pPr>
            <a:r>
              <a:rPr lang="en-US" sz="1300" b="1" dirty="0">
                <a:solidFill>
                  <a:schemeClr val="tx2"/>
                </a:solidFill>
              </a:rPr>
              <a:t>Position jumps &gt; 0.8 m: </a:t>
            </a:r>
            <a:pPr indent="0" marL="0">
              <a:buNone/>
            </a:pPr>
            <a:r>
              <a:rPr lang="en-US" sz="1300" dirty="0">
                <a:solidFill>
                  <a:schemeClr val="tx1"/>
                </a:solidFill>
              </a:rPr>
              <a:t>3.5% → 0.7%</a:t>
            </a:r>
            <a:endParaRPr lang="en-US" sz="1300" dirty="0"/>
          </a:p>
        </p:txBody>
      </p:sp>
      <p:pic>
        <p:nvPicPr>
          <p:cNvPr id="7" name="Image 1" descr="preencoded.png">    </p:cNvPr>
          <p:cNvPicPr>
            <a:picLocks noChangeAspect="1"/>
          </p:cNvPicPr>
          <p:nvPr/>
        </p:nvPicPr>
        <p:blipFill>
          <a:blip r:embed="rId3"/>
          <a:stretch>
            <a:fillRect/>
          </a:stretch>
        </p:blipFill>
        <p:spPr>
          <a:xfrm>
            <a:off x="566928" y="5047488"/>
            <a:ext cx="201168" cy="201168"/>
          </a:xfrm>
          <a:prstGeom prst="rect">
            <a:avLst/>
          </a:prstGeom>
        </p:spPr>
      </p:pic>
      <p:sp>
        <p:nvSpPr>
          <p:cNvPr id="8" name="Text 3"/>
          <p:cNvSpPr txBox="1"/>
          <p:nvPr/>
        </p:nvSpPr>
        <p:spPr>
          <a:xfrm>
            <a:off x="896112" y="4992624"/>
            <a:ext cx="5120640" cy="548640"/>
          </a:xfrm>
          <a:prstGeom prst="rect">
            <a:avLst/>
          </a:prstGeom>
          <a:noFill/>
          <a:ln/>
        </p:spPr>
        <p:txBody>
          <a:bodyPr wrap="square" lIns="0" tIns="0" rIns="0" bIns="0" rtlCol="0" anchor="t"/>
          <a:lstStyle/>
          <a:p>
            <a:pPr indent="0" marL="0">
              <a:buNone/>
            </a:pPr>
            <a:r>
              <a:rPr lang="en-US" sz="1300" b="1" dirty="0">
                <a:solidFill>
                  <a:schemeClr val="tx2"/>
                </a:solidFill>
              </a:rPr>
              <a:t>Obstacles: </a:t>
            </a:r>
            <a:pPr indent="0" marL="0">
              <a:buNone/>
            </a:pPr>
            <a:r>
              <a:rPr lang="en-US" sz="1300" dirty="0">
                <a:solidFill>
                  <a:schemeClr val="tx1"/>
                </a:solidFill>
              </a:rPr>
              <a:t>2 light contacts → 0 with furniture after fixing the slow-down factor and adding a detour manoeuvre</a:t>
            </a:r>
            <a:endParaRPr lang="en-US" sz="1300" dirty="0"/>
          </a:p>
        </p:txBody>
      </p:sp>
      <p:pic>
        <p:nvPicPr>
          <p:cNvPr id="9" name="Image 2" descr="preencoded.png">    </p:cNvPr>
          <p:cNvPicPr>
            <a:picLocks noChangeAspect="1"/>
          </p:cNvPicPr>
          <p:nvPr/>
        </p:nvPicPr>
        <p:blipFill>
          <a:blip r:embed="rId4"/>
          <a:stretch>
            <a:fillRect/>
          </a:stretch>
        </p:blipFill>
        <p:spPr>
          <a:xfrm>
            <a:off x="566928" y="5650992"/>
            <a:ext cx="201168" cy="201168"/>
          </a:xfrm>
          <a:prstGeom prst="rect">
            <a:avLst/>
          </a:prstGeom>
        </p:spPr>
      </p:pic>
      <p:sp>
        <p:nvSpPr>
          <p:cNvPr id="10" name="Text 4"/>
          <p:cNvSpPr txBox="1"/>
          <p:nvPr/>
        </p:nvSpPr>
        <p:spPr>
          <a:xfrm>
            <a:off x="896112" y="5596128"/>
            <a:ext cx="5120640" cy="548640"/>
          </a:xfrm>
          <a:prstGeom prst="rect">
            <a:avLst/>
          </a:prstGeom>
          <a:noFill/>
          <a:ln/>
        </p:spPr>
        <p:txBody>
          <a:bodyPr wrap="square" lIns="0" tIns="0" rIns="0" bIns="0" rtlCol="0" anchor="t"/>
          <a:lstStyle/>
          <a:p>
            <a:pPr indent="0" marL="0">
              <a:buNone/>
            </a:pPr>
            <a:r>
              <a:rPr lang="en-US" sz="1300" b="1" dirty="0">
                <a:solidFill>
                  <a:schemeClr val="tx2"/>
                </a:solidFill>
              </a:rPr>
              <a:t>Under the hood: </a:t>
            </a:r>
            <a:pPr indent="0" marL="0">
              <a:buNone/>
            </a:pPr>
            <a:r>
              <a:rPr lang="en-US" sz="1300" dirty="0">
                <a:solidFill>
                  <a:schemeClr val="tx1"/>
                </a:solidFill>
              </a:rPr>
              <a:t>6-state Kalman (constant acceleration) · Mahalanobis gate · PD heading · ±50° frontal sector</a:t>
            </a:r>
            <a:endParaRPr lang="en-US" sz="1300" dirty="0"/>
          </a:p>
        </p:txBody>
      </p:sp>
      <p:sp>
        <p:nvSpPr>
          <p:cNvPr id="11" name="Text 2"/>
          <p:cNvSpPr/>
          <p:nvPr>
            <p:ph idx="103" type="media" hasCustomPrompt="1"/>
          </p:nvPr>
        </p:nvSpPr>
        <p:spPr>
          <a:xfrm>
            <a:off x="6263640" y="1691640"/>
            <a:ext cx="5376672" cy="3026664"/>
          </a:xfrm>
          <a:prstGeom prst="rect">
            <a:avLst/>
          </a:prstGeom>
          <a:noFill/>
          <a:ln/>
        </p:spPr>
        <p:txBody>
          <a:bodyPr wrap="square" rtlCol="0" anchor="b"/>
          <a:lstStyle/>
          <a:p>
            <a:pPr algn="ctr" indent="0" marL="0">
              <a:buNone/>
            </a:pPr>
            <a:endParaRPr lang="en-US" sz="1200" dirty="0"/>
          </a:p>
        </p:txBody>
      </p:sp>
      <p:sp>
        <p:nvSpPr>
          <p:cNvPr id="12" name="Text 6"/>
          <p:cNvSpPr txBox="1"/>
          <p:nvPr/>
        </p:nvSpPr>
        <p:spPr>
          <a:xfrm>
            <a:off x="6263640" y="4855464"/>
            <a:ext cx="5376672" cy="457200"/>
          </a:xfrm>
          <a:prstGeom prst="rect">
            <a:avLst/>
          </a:prstGeom>
          <a:noFill/>
          <a:ln/>
        </p:spPr>
        <p:txBody>
          <a:bodyPr wrap="square" lIns="0" tIns="0" rIns="0" bIns="0" rtlCol="0" anchor="t"/>
          <a:lstStyle/>
          <a:p>
            <a:pPr indent="0" marL="0">
              <a:buNone/>
            </a:pPr>
            <a:r>
              <a:rPr lang="en-US" sz="1100" b="1" dirty="0">
                <a:solidFill>
                  <a:schemeClr val="accent2"/>
                </a:solidFill>
              </a:rPr>
              <a:t>VIDEO 2  </a:t>
            </a:r>
            <a:pPr indent="0" marL="0">
              <a:buNone/>
            </a:pPr>
            <a:r>
              <a:rPr lang="en-US" sz="1100" dirty="0">
                <a:solidFill>
                  <a:schemeClr val="accent6"/>
                </a:solidFill>
              </a:rPr>
              <a:t>Following through a turn, and avoiding an obstacle.</a:t>
            </a:r>
            <a:endParaRPr lang="en-US" sz="11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Mapping and autonomous navigation</a:t>
            </a:r>
            <a:endParaRPr lang="en-US" sz="2800" dirty="0"/>
          </a:p>
        </p:txBody>
      </p:sp>
      <p:sp>
        <p:nvSpPr>
          <p:cNvPr id="3" name="Text 2"/>
          <p:cNvSpPr/>
          <p:nvPr>
            <p:ph idx="105"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Standard ROS 2 tools, configured for this robot: SLAM Toolbox builds the map, AMCL + Nav2 use it.</a:t>
            </a:r>
            <a:endParaRPr lang="en-US" sz="1600" dirty="0"/>
          </a:p>
        </p:txBody>
      </p:sp>
      <p:sp>
        <p:nvSpPr>
          <p:cNvPr id="4" name="Text 2"/>
          <p:cNvSpPr txBox="1"/>
          <p:nvPr/>
        </p:nvSpPr>
        <p:spPr>
          <a:xfrm>
            <a:off x="548640" y="1645920"/>
            <a:ext cx="2377440" cy="868680"/>
          </a:xfrm>
          <a:prstGeom prst="rect">
            <a:avLst/>
          </a:prstGeom>
          <a:noFill/>
          <a:ln/>
        </p:spPr>
        <p:txBody>
          <a:bodyPr wrap="square" lIns="0" tIns="0" rIns="0" bIns="0" rtlCol="0" anchor="t"/>
          <a:lstStyle/>
          <a:p>
            <a:pPr indent="0" marL="0">
              <a:buNone/>
            </a:pPr>
            <a:r>
              <a:rPr lang="en-US" sz="5400" b="1" dirty="0">
                <a:solidFill>
                  <a:schemeClr val="accent1"/>
                </a:solidFill>
              </a:rPr>
              <a:t>6 / 7</a:t>
            </a:r>
            <a:endParaRPr lang="en-US" sz="5400" dirty="0"/>
          </a:p>
        </p:txBody>
      </p:sp>
      <p:sp>
        <p:nvSpPr>
          <p:cNvPr id="5" name="Text 3"/>
          <p:cNvSpPr txBox="1"/>
          <p:nvPr/>
        </p:nvSpPr>
        <p:spPr>
          <a:xfrm>
            <a:off x="548640" y="2514600"/>
            <a:ext cx="2468880" cy="320040"/>
          </a:xfrm>
          <a:prstGeom prst="rect">
            <a:avLst/>
          </a:prstGeom>
          <a:noFill/>
          <a:ln/>
        </p:spPr>
        <p:txBody>
          <a:bodyPr wrap="square" lIns="0" tIns="0" rIns="0" bIns="0" rtlCol="0" anchor="t"/>
          <a:lstStyle/>
          <a:p>
            <a:pPr indent="0" marL="0">
              <a:buNone/>
            </a:pPr>
            <a:r>
              <a:rPr lang="en-US" sz="1300" dirty="0">
                <a:solidFill>
                  <a:schemeClr val="tx1"/>
                </a:solidFill>
              </a:rPr>
              <a:t>navigation goals reached (86%)</a:t>
            </a:r>
            <a:endParaRPr lang="en-US" sz="1300" dirty="0"/>
          </a:p>
        </p:txBody>
      </p:sp>
      <p:sp>
        <p:nvSpPr>
          <p:cNvPr id="6" name="Text 4"/>
          <p:cNvSpPr txBox="1"/>
          <p:nvPr/>
        </p:nvSpPr>
        <p:spPr>
          <a:xfrm>
            <a:off x="3246120" y="1645920"/>
            <a:ext cx="2651760" cy="868680"/>
          </a:xfrm>
          <a:prstGeom prst="rect">
            <a:avLst/>
          </a:prstGeom>
          <a:noFill/>
          <a:ln/>
        </p:spPr>
        <p:txBody>
          <a:bodyPr wrap="square" lIns="0" tIns="0" rIns="0" bIns="0" rtlCol="0" anchor="t"/>
          <a:lstStyle/>
          <a:p>
            <a:pPr indent="0" marL="0">
              <a:buNone/>
            </a:pPr>
            <a:r>
              <a:rPr lang="en-US" sz="5400" b="1" dirty="0">
                <a:solidFill>
                  <a:schemeClr val="accent1"/>
                </a:solidFill>
              </a:rPr>
              <a:t>≈ 8 m</a:t>
            </a:r>
            <a:endParaRPr lang="en-US" sz="5400" dirty="0"/>
          </a:p>
        </p:txBody>
      </p:sp>
      <p:sp>
        <p:nvSpPr>
          <p:cNvPr id="7" name="Text 5"/>
          <p:cNvSpPr txBox="1"/>
          <p:nvPr/>
        </p:nvSpPr>
        <p:spPr>
          <a:xfrm>
            <a:off x="3246120" y="2514600"/>
            <a:ext cx="2651760" cy="320040"/>
          </a:xfrm>
          <a:prstGeom prst="rect">
            <a:avLst/>
          </a:prstGeom>
          <a:noFill/>
          <a:ln/>
        </p:spPr>
        <p:txBody>
          <a:bodyPr wrap="square" lIns="0" tIns="0" rIns="0" bIns="0" rtlCol="0" anchor="t"/>
          <a:lstStyle/>
          <a:p>
            <a:pPr indent="0" marL="0">
              <a:buNone/>
            </a:pPr>
            <a:r>
              <a:rPr lang="en-US" sz="1300" dirty="0">
                <a:solidFill>
                  <a:schemeClr val="tx1"/>
                </a:solidFill>
              </a:rPr>
              <a:t>longest routes (two of them)</a:t>
            </a:r>
            <a:endParaRPr lang="en-US" sz="1300" dirty="0"/>
          </a:p>
        </p:txBody>
      </p:sp>
      <p:pic>
        <p:nvPicPr>
          <p:cNvPr id="8" name="Image 0" descr="preencoded.png">    </p:cNvPr>
          <p:cNvPicPr>
            <a:picLocks noChangeAspect="1"/>
          </p:cNvPicPr>
          <p:nvPr/>
        </p:nvPicPr>
        <p:blipFill>
          <a:blip r:embed="rId1"/>
          <a:stretch>
            <a:fillRect/>
          </a:stretch>
        </p:blipFill>
        <p:spPr>
          <a:xfrm>
            <a:off x="566928" y="3127248"/>
            <a:ext cx="201168" cy="201168"/>
          </a:xfrm>
          <a:prstGeom prst="rect">
            <a:avLst/>
          </a:prstGeom>
        </p:spPr>
      </p:pic>
      <p:sp>
        <p:nvSpPr>
          <p:cNvPr id="9" name="Text 6"/>
          <p:cNvSpPr txBox="1"/>
          <p:nvPr/>
        </p:nvSpPr>
        <p:spPr>
          <a:xfrm>
            <a:off x="896112" y="3072384"/>
            <a:ext cx="5120640" cy="502920"/>
          </a:xfrm>
          <a:prstGeom prst="rect">
            <a:avLst/>
          </a:prstGeom>
          <a:noFill/>
          <a:ln/>
        </p:spPr>
        <p:txBody>
          <a:bodyPr wrap="square" lIns="0" tIns="0" rIns="0" bIns="0" rtlCol="0" anchor="t"/>
          <a:lstStyle/>
          <a:p>
            <a:pPr indent="0" marL="0">
              <a:buNone/>
            </a:pPr>
            <a:r>
              <a:rPr lang="en-US" sz="1300" dirty="0">
                <a:solidFill>
                  <a:schemeClr val="tx1"/>
                </a:solidFill>
              </a:rPr>
              <a:t>An obstacle not on the map was detected and avoided by the local costmap</a:t>
            </a:r>
            <a:endParaRPr lang="en-US" sz="1300" dirty="0"/>
          </a:p>
        </p:txBody>
      </p:sp>
      <p:pic>
        <p:nvPicPr>
          <p:cNvPr id="10" name="Image 1" descr="preencoded.png">    </p:cNvPr>
          <p:cNvPicPr>
            <a:picLocks noChangeAspect="1"/>
          </p:cNvPicPr>
          <p:nvPr/>
        </p:nvPicPr>
        <p:blipFill>
          <a:blip r:embed="rId2"/>
          <a:stretch>
            <a:fillRect/>
          </a:stretch>
        </p:blipFill>
        <p:spPr>
          <a:xfrm>
            <a:off x="566928" y="3675888"/>
            <a:ext cx="201168" cy="201168"/>
          </a:xfrm>
          <a:prstGeom prst="rect">
            <a:avLst/>
          </a:prstGeom>
        </p:spPr>
      </p:pic>
      <p:sp>
        <p:nvSpPr>
          <p:cNvPr id="11" name="Text 7"/>
          <p:cNvSpPr txBox="1"/>
          <p:nvPr/>
        </p:nvSpPr>
        <p:spPr>
          <a:xfrm>
            <a:off x="896112" y="3621024"/>
            <a:ext cx="5120640" cy="502920"/>
          </a:xfrm>
          <a:prstGeom prst="rect">
            <a:avLst/>
          </a:prstGeom>
          <a:noFill/>
          <a:ln/>
        </p:spPr>
        <p:txBody>
          <a:bodyPr wrap="square" lIns="0" tIns="0" rIns="0" bIns="0" rtlCol="0" anchor="t"/>
          <a:lstStyle/>
          <a:p>
            <a:pPr indent="0" marL="0">
              <a:buNone/>
            </a:pPr>
            <a:r>
              <a:rPr lang="en-US" sz="1300" dirty="0">
                <a:solidFill>
                  <a:schemeClr val="tx1"/>
                </a:solidFill>
              </a:rPr>
              <a:t>Only failure: goal changed mid-route — recovered automatically in ≈ 2 s</a:t>
            </a:r>
            <a:endParaRPr lang="en-US" sz="1300" dirty="0"/>
          </a:p>
        </p:txBody>
      </p:sp>
      <p:pic>
        <p:nvPicPr>
          <p:cNvPr id="12" name="Image 2" descr="preencoded.png">    </p:cNvPr>
          <p:cNvPicPr>
            <a:picLocks noChangeAspect="1"/>
          </p:cNvPicPr>
          <p:nvPr/>
        </p:nvPicPr>
        <p:blipFill>
          <a:blip r:embed="rId3"/>
          <a:stretch>
            <a:fillRect/>
          </a:stretch>
        </p:blipFill>
        <p:spPr>
          <a:xfrm>
            <a:off x="566928" y="4224528"/>
            <a:ext cx="201168" cy="201168"/>
          </a:xfrm>
          <a:prstGeom prst="rect">
            <a:avLst/>
          </a:prstGeom>
        </p:spPr>
      </p:pic>
      <p:sp>
        <p:nvSpPr>
          <p:cNvPr id="13" name="Text 8"/>
          <p:cNvSpPr txBox="1"/>
          <p:nvPr/>
        </p:nvSpPr>
        <p:spPr>
          <a:xfrm>
            <a:off x="896112" y="4169664"/>
            <a:ext cx="5120640" cy="502920"/>
          </a:xfrm>
          <a:prstGeom prst="rect">
            <a:avLst/>
          </a:prstGeom>
          <a:noFill/>
          <a:ln/>
        </p:spPr>
        <p:txBody>
          <a:bodyPr wrap="square" lIns="0" tIns="0" rIns="0" bIns="0" rtlCol="0" anchor="t"/>
          <a:lstStyle/>
          <a:p>
            <a:pPr indent="0" marL="0">
              <a:buNone/>
            </a:pPr>
            <a:r>
              <a:rPr lang="en-US" sz="1300" dirty="0">
                <a:solidFill>
                  <a:schemeClr val="tx1"/>
                </a:solidFill>
              </a:rPr>
              <a:t>AMCL seemed frozen at first: DDS discovery latency, fixed with longer test commands</a:t>
            </a:r>
            <a:endParaRPr lang="en-US" sz="1300" dirty="0"/>
          </a:p>
        </p:txBody>
      </p:sp>
      <p:sp>
        <p:nvSpPr>
          <p:cNvPr id="14" name="Text 9"/>
          <p:cNvSpPr txBox="1"/>
          <p:nvPr/>
        </p:nvSpPr>
        <p:spPr>
          <a:xfrm>
            <a:off x="548640" y="4846320"/>
            <a:ext cx="365760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NAVIGATION CHAIN</a:t>
            </a:r>
            <a:endParaRPr lang="en-US" sz="1100" dirty="0"/>
          </a:p>
        </p:txBody>
      </p:sp>
      <p:sp>
        <p:nvSpPr>
          <p:cNvPr id="15" name="Text 10"/>
          <p:cNvSpPr/>
          <p:nvPr/>
        </p:nvSpPr>
        <p:spPr>
          <a:xfrm>
            <a:off x="548640" y="5212080"/>
            <a:ext cx="1188720" cy="777240"/>
          </a:xfrm>
          <a:prstGeom prst="roundRect">
            <a:avLst>
              <a:gd name="adj" fmla="val 941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100" dirty="0">
                <a:solidFill>
                  <a:schemeClr val="tx2"/>
                </a:solidFill>
              </a:rPr>
              <a:t>SLAM Toolbox</a:t>
            </a:r>
            <a:endParaRPr lang="en-US" sz="1100" dirty="0"/>
          </a:p>
          <a:p>
            <a:pPr algn="ctr" indent="0" marL="0">
              <a:buNone/>
            </a:pPr>
            <a:r>
              <a:rPr lang="en-US" sz="1100" dirty="0">
                <a:solidFill>
                  <a:schemeClr val="tx2"/>
                </a:solidFill>
              </a:rPr>
              <a:t>map</a:t>
            </a:r>
            <a:endParaRPr lang="en-US" sz="1100" dirty="0"/>
          </a:p>
        </p:txBody>
      </p:sp>
      <p:sp>
        <p:nvSpPr>
          <p:cNvPr id="16" name="Shape 11"/>
          <p:cNvSpPr/>
          <p:nvPr/>
        </p:nvSpPr>
        <p:spPr>
          <a:xfrm>
            <a:off x="1746504" y="5600700"/>
            <a:ext cx="164592" cy="0"/>
          </a:xfrm>
          <a:prstGeom prst="line">
            <a:avLst/>
          </a:prstGeom>
          <a:noFill/>
          <a:ln w="19050">
            <a:solidFill>
              <a:schemeClr val="accent6"/>
            </a:solidFill>
            <a:prstDash val="solid"/>
            <a:tailEnd type="triangle"/>
          </a:ln>
        </p:spPr>
      </p:sp>
      <p:sp>
        <p:nvSpPr>
          <p:cNvPr id="17" name="Text 12"/>
          <p:cNvSpPr/>
          <p:nvPr/>
        </p:nvSpPr>
        <p:spPr>
          <a:xfrm>
            <a:off x="1920240" y="5212080"/>
            <a:ext cx="1188720" cy="777240"/>
          </a:xfrm>
          <a:prstGeom prst="roundRect">
            <a:avLst>
              <a:gd name="adj" fmla="val 941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100" dirty="0">
                <a:solidFill>
                  <a:schemeClr val="tx2"/>
                </a:solidFill>
              </a:rPr>
              <a:t>AMCL</a:t>
            </a:r>
            <a:endParaRPr lang="en-US" sz="1100" dirty="0"/>
          </a:p>
          <a:p>
            <a:pPr algn="ctr" indent="0" marL="0">
              <a:buNone/>
            </a:pPr>
            <a:r>
              <a:rPr lang="en-US" sz="1100" dirty="0">
                <a:solidFill>
                  <a:schemeClr val="tx2"/>
                </a:solidFill>
              </a:rPr>
              <a:t>localization</a:t>
            </a:r>
            <a:endParaRPr lang="en-US" sz="1100" dirty="0"/>
          </a:p>
        </p:txBody>
      </p:sp>
      <p:sp>
        <p:nvSpPr>
          <p:cNvPr id="18" name="Shape 13"/>
          <p:cNvSpPr/>
          <p:nvPr/>
        </p:nvSpPr>
        <p:spPr>
          <a:xfrm>
            <a:off x="3118104" y="5600700"/>
            <a:ext cx="164592" cy="0"/>
          </a:xfrm>
          <a:prstGeom prst="line">
            <a:avLst/>
          </a:prstGeom>
          <a:noFill/>
          <a:ln w="19050">
            <a:solidFill>
              <a:schemeClr val="accent6"/>
            </a:solidFill>
            <a:prstDash val="solid"/>
            <a:tailEnd type="triangle"/>
          </a:ln>
        </p:spPr>
      </p:sp>
      <p:sp>
        <p:nvSpPr>
          <p:cNvPr id="19" name="Text 14"/>
          <p:cNvSpPr/>
          <p:nvPr/>
        </p:nvSpPr>
        <p:spPr>
          <a:xfrm>
            <a:off x="3291840" y="5212080"/>
            <a:ext cx="1188720" cy="777240"/>
          </a:xfrm>
          <a:prstGeom prst="roundRect">
            <a:avLst>
              <a:gd name="adj" fmla="val 9412"/>
            </a:avLst>
          </a:prstGeom>
          <a:solidFill>
            <a:schemeClr val="accent4"/>
          </a:solidFill>
          <a:ln w="9525">
            <a:solidFill>
              <a:schemeClr val="accent4"/>
            </a:solidFill>
            <a:prstDash val="solid"/>
          </a:ln>
        </p:spPr>
        <p:txBody>
          <a:bodyPr wrap="square" lIns="508" tIns="508" rIns="508" bIns="508" rtlCol="0" anchor="ctr"/>
          <a:lstStyle/>
          <a:p>
            <a:pPr algn="ctr" indent="0" marL="0">
              <a:buNone/>
            </a:pPr>
            <a:r>
              <a:rPr lang="en-US" sz="1100" dirty="0">
                <a:solidFill>
                  <a:schemeClr val="tx2"/>
                </a:solidFill>
              </a:rPr>
              <a:t>Nav2 planner</a:t>
            </a:r>
            <a:endParaRPr lang="en-US" sz="1100" dirty="0"/>
          </a:p>
          <a:p>
            <a:pPr algn="ctr" indent="0" marL="0">
              <a:buNone/>
            </a:pPr>
            <a:r>
              <a:rPr lang="en-US" sz="1100" dirty="0">
                <a:solidFill>
                  <a:schemeClr val="tx2"/>
                </a:solidFill>
              </a:rPr>
              <a:t>+ DWB controller</a:t>
            </a:r>
            <a:endParaRPr lang="en-US" sz="1100" dirty="0"/>
          </a:p>
        </p:txBody>
      </p:sp>
      <p:sp>
        <p:nvSpPr>
          <p:cNvPr id="20" name="Shape 15"/>
          <p:cNvSpPr/>
          <p:nvPr/>
        </p:nvSpPr>
        <p:spPr>
          <a:xfrm>
            <a:off x="4489704" y="5600700"/>
            <a:ext cx="164592" cy="0"/>
          </a:xfrm>
          <a:prstGeom prst="line">
            <a:avLst/>
          </a:prstGeom>
          <a:noFill/>
          <a:ln w="19050">
            <a:solidFill>
              <a:schemeClr val="accent6"/>
            </a:solidFill>
            <a:prstDash val="solid"/>
            <a:tailEnd type="triangle"/>
          </a:ln>
        </p:spPr>
      </p:sp>
      <p:sp>
        <p:nvSpPr>
          <p:cNvPr id="21" name="Text 16"/>
          <p:cNvSpPr/>
          <p:nvPr/>
        </p:nvSpPr>
        <p:spPr>
          <a:xfrm>
            <a:off x="4663440" y="5212080"/>
            <a:ext cx="1188720" cy="777240"/>
          </a:xfrm>
          <a:prstGeom prst="roundRect">
            <a:avLst>
              <a:gd name="adj" fmla="val 9412"/>
            </a:avLst>
          </a:prstGeom>
          <a:solidFill>
            <a:schemeClr val="accent3"/>
          </a:solidFill>
          <a:ln w="9525">
            <a:solidFill>
              <a:schemeClr val="accent2"/>
            </a:solidFill>
            <a:prstDash val="solid"/>
          </a:ln>
        </p:spPr>
        <p:txBody>
          <a:bodyPr wrap="square" lIns="508" tIns="508" rIns="508" bIns="508" rtlCol="0" anchor="ctr"/>
          <a:lstStyle/>
          <a:p>
            <a:pPr algn="ctr" indent="0" marL="0">
              <a:buNone/>
            </a:pPr>
            <a:r>
              <a:rPr lang="en-US" sz="1100" dirty="0">
                <a:solidFill>
                  <a:schemeClr val="tx2"/>
                </a:solidFill>
              </a:rPr>
              <a:t>control_node</a:t>
            </a:r>
            <a:endParaRPr lang="en-US" sz="1100" dirty="0"/>
          </a:p>
          <a:p>
            <a:pPr algn="ctr" indent="0" marL="0">
              <a:buNone/>
            </a:pPr>
            <a:r>
              <a:rPr lang="en-US" sz="1100" dirty="0">
                <a:solidFill>
                  <a:schemeClr val="tx2"/>
                </a:solidFill>
              </a:rPr>
              <a:t>(HOMING only)</a:t>
            </a:r>
            <a:endParaRPr lang="en-US" sz="1100" dirty="0"/>
          </a:p>
        </p:txBody>
      </p:sp>
      <p:sp>
        <p:nvSpPr>
          <p:cNvPr id="22" name="Text 2"/>
          <p:cNvSpPr/>
          <p:nvPr>
            <p:ph idx="103" type="media" hasCustomPrompt="1"/>
          </p:nvPr>
        </p:nvSpPr>
        <p:spPr>
          <a:xfrm>
            <a:off x="6263640" y="1691640"/>
            <a:ext cx="5376672" cy="3026664"/>
          </a:xfrm>
          <a:prstGeom prst="rect">
            <a:avLst/>
          </a:prstGeom>
          <a:noFill/>
          <a:ln/>
        </p:spPr>
        <p:txBody>
          <a:bodyPr wrap="square" rtlCol="0" anchor="b"/>
          <a:lstStyle/>
          <a:p>
            <a:pPr algn="ctr" indent="0" marL="0">
              <a:buNone/>
            </a:pPr>
            <a:endParaRPr lang="en-US" sz="1200" dirty="0"/>
          </a:p>
        </p:txBody>
      </p:sp>
      <p:sp>
        <p:nvSpPr>
          <p:cNvPr id="23" name="Text 18"/>
          <p:cNvSpPr txBox="1"/>
          <p:nvPr/>
        </p:nvSpPr>
        <p:spPr>
          <a:xfrm>
            <a:off x="6263640" y="4855464"/>
            <a:ext cx="5376672" cy="457200"/>
          </a:xfrm>
          <a:prstGeom prst="rect">
            <a:avLst/>
          </a:prstGeom>
          <a:noFill/>
          <a:ln/>
        </p:spPr>
        <p:txBody>
          <a:bodyPr wrap="square" lIns="0" tIns="0" rIns="0" bIns="0" rtlCol="0" anchor="t"/>
          <a:lstStyle/>
          <a:p>
            <a:pPr indent="0" marL="0">
              <a:buNone/>
            </a:pPr>
            <a:r>
              <a:rPr lang="en-US" sz="1100" b="1" dirty="0">
                <a:solidFill>
                  <a:schemeClr val="accent2"/>
                </a:solidFill>
              </a:rPr>
              <a:t>VIDEO 3  </a:t>
            </a:r>
            <a:pPr indent="0" marL="0">
              <a:buNone/>
            </a:pPr>
            <a:r>
              <a:rPr lang="en-US" sz="1100" dirty="0">
                <a:solidFill>
                  <a:schemeClr val="accent6"/>
                </a:solidFill>
              </a:rPr>
              <a:t>Nav2 navigating to a goal on the lab map (RViz and/or robot view).</a:t>
            </a:r>
            <a:endParaRPr lang="en-US" sz="11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The “home” gesture: tracking + navigation</a:t>
            </a:r>
            <a:endParaRPr lang="en-US" sz="2800" dirty="0"/>
          </a:p>
        </p:txBody>
      </p:sp>
      <p:sp>
        <p:nvSpPr>
          <p:cNvPr id="3" name="Text 2"/>
          <p:cNvSpPr/>
          <p:nvPr>
            <p:ph idx="105"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One gesture hands the robot over from the person-follower to Nav2 — and back.</a:t>
            </a:r>
            <a:endParaRPr lang="en-US" sz="1600" dirty="0"/>
          </a:p>
        </p:txBody>
      </p:sp>
      <p:sp>
        <p:nvSpPr>
          <p:cNvPr id="4" name="Text 2"/>
          <p:cNvSpPr/>
          <p:nvPr>
            <p:ph idx="103" type="media" hasCustomPrompt="1"/>
          </p:nvPr>
        </p:nvSpPr>
        <p:spPr>
          <a:xfrm>
            <a:off x="548640" y="1645920"/>
            <a:ext cx="7132320" cy="4014216"/>
          </a:xfrm>
          <a:prstGeom prst="rect">
            <a:avLst/>
          </a:prstGeom>
          <a:noFill/>
          <a:ln/>
        </p:spPr>
        <p:txBody>
          <a:bodyPr wrap="square" rtlCol="0" anchor="b"/>
          <a:lstStyle/>
          <a:p>
            <a:pPr algn="ctr" indent="0" marL="0">
              <a:buNone/>
            </a:pPr>
            <a:endParaRPr lang="en-US" sz="1200" dirty="0"/>
          </a:p>
        </p:txBody>
      </p:sp>
      <p:sp>
        <p:nvSpPr>
          <p:cNvPr id="5" name="Text 3"/>
          <p:cNvSpPr txBox="1"/>
          <p:nvPr/>
        </p:nvSpPr>
        <p:spPr>
          <a:xfrm>
            <a:off x="548640" y="5769864"/>
            <a:ext cx="7132320" cy="457200"/>
          </a:xfrm>
          <a:prstGeom prst="rect">
            <a:avLst/>
          </a:prstGeom>
          <a:noFill/>
          <a:ln/>
        </p:spPr>
        <p:txBody>
          <a:bodyPr wrap="square" lIns="0" tIns="0" rIns="0" bIns="0" rtlCol="0" anchor="t"/>
          <a:lstStyle/>
          <a:p>
            <a:pPr indent="0" marL="0">
              <a:buNone/>
            </a:pPr>
            <a:r>
              <a:rPr lang="en-US" sz="1100" b="1" dirty="0">
                <a:solidFill>
                  <a:schemeClr val="accent2"/>
                </a:solidFill>
              </a:rPr>
              <a:t>VIDEO 4  </a:t>
            </a:r>
            <a:pPr indent="0" marL="0">
              <a:buNone/>
            </a:pPr>
            <a:r>
              <a:rPr lang="en-US" sz="1100" dirty="0">
                <a:solidFill>
                  <a:schemeClr val="accent6"/>
                </a:solidFill>
              </a:rPr>
              <a:t>Full sequence (≈ 40 s): right hand → following with a turn → roof → autonomous return home.</a:t>
            </a:r>
            <a:endParaRPr lang="en-US" sz="1100" dirty="0"/>
          </a:p>
        </p:txBody>
      </p:sp>
      <p:sp>
        <p:nvSpPr>
          <p:cNvPr id="6" name="State IDLE"/>
          <p:cNvSpPr/>
          <p:nvPr/>
        </p:nvSpPr>
        <p:spPr>
          <a:xfrm>
            <a:off x="8001000" y="1783080"/>
            <a:ext cx="1188720" cy="502920"/>
          </a:xfrm>
          <a:prstGeom prst="roundRect">
            <a:avLst>
              <a:gd name="adj" fmla="val 14545"/>
            </a:avLst>
          </a:prstGeom>
          <a:solidFill>
            <a:schemeClr val="accent4"/>
          </a:solidFill>
          <a:ln w="15875">
            <a:solidFill>
              <a:schemeClr val="accent4"/>
            </a:solidFill>
            <a:prstDash val="solid"/>
          </a:ln>
        </p:spPr>
        <p:txBody>
          <a:bodyPr wrap="square" lIns="508" tIns="508" rIns="508" bIns="508" rtlCol="0" anchor="ctr"/>
          <a:lstStyle/>
          <a:p>
            <a:pPr algn="ctr" indent="0" marL="0">
              <a:buNone/>
            </a:pPr>
            <a:r>
              <a:rPr lang="en-US" sz="1300" b="1" dirty="0">
                <a:solidFill>
                  <a:schemeClr val="tx2"/>
                </a:solidFill>
              </a:rPr>
              <a:t>IDLE</a:t>
            </a:r>
            <a:endParaRPr lang="en-US" sz="1300" dirty="0"/>
          </a:p>
        </p:txBody>
      </p:sp>
      <p:sp>
        <p:nvSpPr>
          <p:cNvPr id="7" name="State TRACKING"/>
          <p:cNvSpPr/>
          <p:nvPr/>
        </p:nvSpPr>
        <p:spPr>
          <a:xfrm>
            <a:off x="10451592" y="1783080"/>
            <a:ext cx="1188720" cy="502920"/>
          </a:xfrm>
          <a:prstGeom prst="roundRect">
            <a:avLst>
              <a:gd name="adj" fmla="val 14545"/>
            </a:avLst>
          </a:prstGeom>
          <a:solidFill>
            <a:schemeClr val="accent4"/>
          </a:solidFill>
          <a:ln w="15875">
            <a:solidFill>
              <a:schemeClr val="accent4"/>
            </a:solidFill>
            <a:prstDash val="solid"/>
          </a:ln>
        </p:spPr>
        <p:txBody>
          <a:bodyPr wrap="square" lIns="508" tIns="508" rIns="508" bIns="508" rtlCol="0" anchor="ctr"/>
          <a:lstStyle/>
          <a:p>
            <a:pPr algn="ctr" indent="0" marL="0">
              <a:buNone/>
            </a:pPr>
            <a:r>
              <a:rPr lang="en-US" sz="1300" b="1" dirty="0">
                <a:solidFill>
                  <a:schemeClr val="tx2"/>
                </a:solidFill>
              </a:rPr>
              <a:t>TRACKING</a:t>
            </a:r>
            <a:endParaRPr lang="en-US" sz="1300" dirty="0"/>
          </a:p>
        </p:txBody>
      </p:sp>
      <p:sp>
        <p:nvSpPr>
          <p:cNvPr id="8" name="State HOMING"/>
          <p:cNvSpPr/>
          <p:nvPr/>
        </p:nvSpPr>
        <p:spPr>
          <a:xfrm>
            <a:off x="9226296" y="3200400"/>
            <a:ext cx="1188720" cy="502920"/>
          </a:xfrm>
          <a:prstGeom prst="roundRect">
            <a:avLst>
              <a:gd name="adj" fmla="val 14545"/>
            </a:avLst>
          </a:prstGeom>
          <a:solidFill>
            <a:schemeClr val="accent3"/>
          </a:solidFill>
          <a:ln w="15875">
            <a:solidFill>
              <a:schemeClr val="accent2"/>
            </a:solidFill>
            <a:prstDash val="solid"/>
          </a:ln>
        </p:spPr>
        <p:txBody>
          <a:bodyPr wrap="square" lIns="508" tIns="508" rIns="508" bIns="508" rtlCol="0" anchor="ctr"/>
          <a:lstStyle/>
          <a:p>
            <a:pPr algn="ctr" indent="0" marL="0">
              <a:buNone/>
            </a:pPr>
            <a:r>
              <a:rPr lang="en-US" sz="1300" b="1" dirty="0">
                <a:solidFill>
                  <a:schemeClr val="tx2"/>
                </a:solidFill>
              </a:rPr>
              <a:t>HOMING</a:t>
            </a:r>
            <a:endParaRPr lang="en-US" sz="1300" dirty="0"/>
          </a:p>
        </p:txBody>
      </p:sp>
      <p:sp>
        <p:nvSpPr>
          <p:cNvPr id="9" name="Shape 7"/>
          <p:cNvSpPr/>
          <p:nvPr/>
        </p:nvSpPr>
        <p:spPr>
          <a:xfrm>
            <a:off x="9208008" y="1920240"/>
            <a:ext cx="1225296" cy="0"/>
          </a:xfrm>
          <a:prstGeom prst="line">
            <a:avLst/>
          </a:prstGeom>
          <a:noFill/>
          <a:ln w="19050">
            <a:solidFill>
              <a:schemeClr val="accent6"/>
            </a:solidFill>
            <a:prstDash val="solid"/>
            <a:tailEnd type="triangle"/>
          </a:ln>
        </p:spPr>
      </p:sp>
      <p:sp>
        <p:nvSpPr>
          <p:cNvPr id="10" name="Text 8"/>
          <p:cNvSpPr txBox="1"/>
          <p:nvPr/>
        </p:nvSpPr>
        <p:spPr>
          <a:xfrm>
            <a:off x="9208008" y="1627632"/>
            <a:ext cx="1225296" cy="256032"/>
          </a:xfrm>
          <a:prstGeom prst="rect">
            <a:avLst/>
          </a:prstGeom>
          <a:noFill/>
          <a:ln/>
        </p:spPr>
        <p:txBody>
          <a:bodyPr wrap="square" lIns="0" tIns="0" rIns="0" bIns="0" rtlCol="0" anchor="t"/>
          <a:lstStyle/>
          <a:p>
            <a:pPr algn="ctr" indent="0" marL="0">
              <a:buNone/>
            </a:pPr>
            <a:r>
              <a:rPr lang="en-US" sz="1000" dirty="0">
                <a:solidFill>
                  <a:schemeClr val="accent6"/>
                </a:solidFill>
              </a:rPr>
              <a:t>right hand</a:t>
            </a:r>
            <a:endParaRPr lang="en-US" sz="1000" dirty="0"/>
          </a:p>
        </p:txBody>
      </p:sp>
      <p:sp>
        <p:nvSpPr>
          <p:cNvPr id="11" name="Shape 9"/>
          <p:cNvSpPr/>
          <p:nvPr/>
        </p:nvSpPr>
        <p:spPr>
          <a:xfrm flipH="1">
            <a:off x="9208008" y="2157984"/>
            <a:ext cx="1225296" cy="0"/>
          </a:xfrm>
          <a:prstGeom prst="line">
            <a:avLst/>
          </a:prstGeom>
          <a:noFill/>
          <a:ln w="19050">
            <a:solidFill>
              <a:schemeClr val="accent6"/>
            </a:solidFill>
            <a:prstDash val="solid"/>
            <a:tailEnd type="triangle"/>
          </a:ln>
        </p:spPr>
      </p:sp>
      <p:sp>
        <p:nvSpPr>
          <p:cNvPr id="12" name="Text 10"/>
          <p:cNvSpPr txBox="1"/>
          <p:nvPr/>
        </p:nvSpPr>
        <p:spPr>
          <a:xfrm>
            <a:off x="9208008" y="2212848"/>
            <a:ext cx="1225296" cy="256032"/>
          </a:xfrm>
          <a:prstGeom prst="rect">
            <a:avLst/>
          </a:prstGeom>
          <a:noFill/>
          <a:ln/>
        </p:spPr>
        <p:txBody>
          <a:bodyPr wrap="square" lIns="0" tIns="0" rIns="0" bIns="0" rtlCol="0" anchor="t"/>
          <a:lstStyle/>
          <a:p>
            <a:pPr algn="ctr" indent="0" marL="0">
              <a:buNone/>
            </a:pPr>
            <a:r>
              <a:rPr lang="en-US" sz="1000" dirty="0">
                <a:solidFill>
                  <a:schemeClr val="accent6"/>
                </a:solidFill>
              </a:rPr>
              <a:t>left hand</a:t>
            </a:r>
            <a:endParaRPr lang="en-US" sz="1000" dirty="0"/>
          </a:p>
        </p:txBody>
      </p:sp>
      <p:sp>
        <p:nvSpPr>
          <p:cNvPr id="13" name="Shape 11"/>
          <p:cNvSpPr/>
          <p:nvPr/>
        </p:nvSpPr>
        <p:spPr>
          <a:xfrm flipH="1">
            <a:off x="10241280" y="2304288"/>
            <a:ext cx="731520" cy="877824"/>
          </a:xfrm>
          <a:prstGeom prst="line">
            <a:avLst/>
          </a:prstGeom>
          <a:noFill/>
          <a:ln w="19050">
            <a:solidFill>
              <a:srgbClr val="D98E04"/>
            </a:solidFill>
            <a:prstDash val="solid"/>
            <a:tailEnd type="triangle"/>
          </a:ln>
        </p:spPr>
      </p:sp>
      <p:sp>
        <p:nvSpPr>
          <p:cNvPr id="14" name="Text 12"/>
          <p:cNvSpPr txBox="1"/>
          <p:nvPr/>
        </p:nvSpPr>
        <p:spPr>
          <a:xfrm>
            <a:off x="10771632" y="2615184"/>
            <a:ext cx="822960" cy="274320"/>
          </a:xfrm>
          <a:prstGeom prst="rect">
            <a:avLst/>
          </a:prstGeom>
          <a:noFill/>
          <a:ln/>
        </p:spPr>
        <p:txBody>
          <a:bodyPr wrap="square" lIns="0" tIns="0" rIns="0" bIns="0" rtlCol="0" anchor="t"/>
          <a:lstStyle/>
          <a:p>
            <a:pPr indent="0" marL="0">
              <a:buNone/>
            </a:pPr>
            <a:r>
              <a:rPr lang="en-US" sz="1200" b="1" dirty="0">
                <a:solidFill>
                  <a:schemeClr val="accent2"/>
                </a:solidFill>
              </a:rPr>
              <a:t>roof</a:t>
            </a:r>
            <a:endParaRPr lang="en-US" sz="1200" dirty="0"/>
          </a:p>
        </p:txBody>
      </p:sp>
      <p:sp>
        <p:nvSpPr>
          <p:cNvPr id="15" name="Shape 13"/>
          <p:cNvSpPr/>
          <p:nvPr/>
        </p:nvSpPr>
        <p:spPr>
          <a:xfrm flipH="1" flipV="1">
            <a:off x="8641080" y="2304288"/>
            <a:ext cx="758952" cy="877824"/>
          </a:xfrm>
          <a:prstGeom prst="line">
            <a:avLst/>
          </a:prstGeom>
          <a:noFill/>
          <a:ln w="19050">
            <a:solidFill>
              <a:schemeClr val="accent6"/>
            </a:solidFill>
            <a:prstDash val="solid"/>
            <a:tailEnd type="triangle"/>
          </a:ln>
        </p:spPr>
      </p:sp>
      <p:sp>
        <p:nvSpPr>
          <p:cNvPr id="16" name="Text 14"/>
          <p:cNvSpPr txBox="1"/>
          <p:nvPr/>
        </p:nvSpPr>
        <p:spPr>
          <a:xfrm>
            <a:off x="7772400" y="2606040"/>
            <a:ext cx="1051560" cy="603504"/>
          </a:xfrm>
          <a:prstGeom prst="rect">
            <a:avLst/>
          </a:prstGeom>
          <a:noFill/>
          <a:ln/>
        </p:spPr>
        <p:txBody>
          <a:bodyPr wrap="square" lIns="0" tIns="0" rIns="0" bIns="0" rtlCol="0" anchor="t"/>
          <a:lstStyle/>
          <a:p>
            <a:pPr algn="r" indent="0" marL="0">
              <a:buNone/>
            </a:pPr>
            <a:r>
              <a:rPr lang="en-US" sz="950" dirty="0">
                <a:solidFill>
                  <a:schemeClr val="accent6"/>
                </a:solidFill>
              </a:rPr>
              <a:t>arrival · Nav2 failure · left hand</a:t>
            </a:r>
            <a:endParaRPr lang="en-US" sz="950" dirty="0"/>
          </a:p>
        </p:txBody>
      </p:sp>
      <p:sp>
        <p:nvSpPr>
          <p:cNvPr id="17" name="Text 15"/>
          <p:cNvSpPr txBox="1"/>
          <p:nvPr/>
        </p:nvSpPr>
        <p:spPr>
          <a:xfrm>
            <a:off x="8001000" y="4023360"/>
            <a:ext cx="3639312" cy="621792"/>
          </a:xfrm>
          <a:prstGeom prst="rect">
            <a:avLst/>
          </a:prstGeom>
          <a:noFill/>
          <a:ln/>
        </p:spPr>
        <p:txBody>
          <a:bodyPr wrap="square" lIns="0" tIns="0" rIns="0" bIns="0" rtlCol="0" anchor="t"/>
          <a:lstStyle/>
          <a:p>
            <a:pPr indent="0" marL="0">
              <a:buNone/>
            </a:pPr>
            <a:r>
              <a:rPr lang="en-US" sz="1200" b="1" dirty="0">
                <a:solidFill>
                  <a:schemeClr val="tx2"/>
                </a:solidFill>
              </a:rPr>
              <a:t>HOMING: </a:t>
            </a:r>
            <a:pPr indent="0" marL="0">
              <a:buNone/>
            </a:pPr>
            <a:r>
              <a:rPr lang="en-US" sz="1200" dirty="0">
                <a:solidFill>
                  <a:schemeClr val="tx1"/>
                </a:solidFill>
              </a:rPr>
              <a:t>control_node sends NavigateToPose(home) and forwards only Nav2’s velocity</a:t>
            </a:r>
            <a:endParaRPr lang="en-US" sz="1200" dirty="0"/>
          </a:p>
        </p:txBody>
      </p:sp>
      <p:sp>
        <p:nvSpPr>
          <p:cNvPr id="18" name="Text 16"/>
          <p:cNvSpPr txBox="1"/>
          <p:nvPr/>
        </p:nvSpPr>
        <p:spPr>
          <a:xfrm>
            <a:off x="8001000" y="4663440"/>
            <a:ext cx="3639312" cy="621792"/>
          </a:xfrm>
          <a:prstGeom prst="rect">
            <a:avLst/>
          </a:prstGeom>
          <a:noFill/>
          <a:ln/>
        </p:spPr>
        <p:txBody>
          <a:bodyPr wrap="square" lIns="0" tIns="0" rIns="0" bIns="0" rtlCol="0" anchor="t"/>
          <a:lstStyle/>
          <a:p>
            <a:pPr indent="0" marL="0">
              <a:buNone/>
            </a:pPr>
            <a:r>
              <a:rPr lang="en-US" sz="1200" b="1" dirty="0">
                <a:solidFill>
                  <a:schemeClr val="tx2"/>
                </a:solidFill>
              </a:rPr>
              <a:t>Exit: </a:t>
            </a:r>
            <a:pPr indent="0" marL="0">
              <a:buNone/>
            </a:pPr>
            <a:r>
              <a:rPr lang="en-US" sz="1200" dirty="0">
                <a:solidFill>
                  <a:schemeClr val="tx1"/>
                </a:solidFill>
              </a:rPr>
              <a:t>arrival, Nav2 failure or left hand → IDLE</a:t>
            </a:r>
            <a:endParaRPr lang="en-US" sz="1200" dirty="0"/>
          </a:p>
        </p:txBody>
      </p:sp>
      <p:sp>
        <p:nvSpPr>
          <p:cNvPr id="19" name="Text 17"/>
          <p:cNvSpPr txBox="1"/>
          <p:nvPr/>
        </p:nvSpPr>
        <p:spPr>
          <a:xfrm>
            <a:off x="8001000" y="5303520"/>
            <a:ext cx="3639312" cy="621792"/>
          </a:xfrm>
          <a:prstGeom prst="rect">
            <a:avLst/>
          </a:prstGeom>
          <a:noFill/>
          <a:ln/>
        </p:spPr>
        <p:txBody>
          <a:bodyPr wrap="square" lIns="0" tIns="0" rIns="0" bIns="0" rtlCol="0" anchor="t"/>
          <a:lstStyle/>
          <a:p>
            <a:pPr indent="0" marL="0">
              <a:buNone/>
            </a:pPr>
            <a:r>
              <a:rPr lang="en-US" sz="1200" b="1" dirty="0">
                <a:solidFill>
                  <a:schemeClr val="accent2"/>
                </a:solidFill>
              </a:rPr>
              <a:t>Detail that mattered: </a:t>
            </a:r>
            <a:pPr indent="0" marL="0">
              <a:buNone/>
            </a:pPr>
            <a:r>
              <a:rPr lang="en-US" sz="1200" dirty="0">
                <a:solidFill>
                  <a:schemeClr val="tx1"/>
                </a:solidFill>
              </a:rPr>
              <a:t>the disabled tracker still publishes zero velocity at 10 Hz — forwarding it would have cancelled Nav2</a:t>
            </a:r>
            <a:endParaRPr lang="en-US" sz="12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“Home” gesture: results</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Final lab session (23/09/2026): 9 of 11 returns home completed.</a:t>
            </a:r>
            <a:endParaRPr lang="en-US" sz="1600" dirty="0"/>
          </a:p>
        </p:txBody>
      </p:sp>
      <p:sp>
        <p:nvSpPr>
          <p:cNvPr id="4" name="Shape 2"/>
          <p:cNvSpPr/>
          <p:nvPr/>
        </p:nvSpPr>
        <p:spPr>
          <a:xfrm>
            <a:off x="548640" y="1645920"/>
            <a:ext cx="2880360" cy="1188720"/>
          </a:xfrm>
          <a:prstGeom prst="roundRect">
            <a:avLst>
              <a:gd name="adj" fmla="val 7692"/>
            </a:avLst>
          </a:prstGeom>
          <a:solidFill>
            <a:schemeClr val="bg2"/>
          </a:solidFill>
          <a:ln w="9525">
            <a:solidFill>
              <a:schemeClr val="bg2"/>
            </a:solidFill>
            <a:prstDash val="solid"/>
          </a:ln>
        </p:spPr>
      </p:sp>
      <p:sp>
        <p:nvSpPr>
          <p:cNvPr id="5" name="Text 3"/>
          <p:cNvSpPr txBox="1"/>
          <p:nvPr/>
        </p:nvSpPr>
        <p:spPr>
          <a:xfrm>
            <a:off x="749808" y="1737360"/>
            <a:ext cx="2560320" cy="621792"/>
          </a:xfrm>
          <a:prstGeom prst="rect">
            <a:avLst/>
          </a:prstGeom>
          <a:noFill/>
          <a:ln/>
        </p:spPr>
        <p:txBody>
          <a:bodyPr wrap="square" lIns="0" tIns="0" rIns="0" bIns="0" rtlCol="0" anchor="ctr"/>
          <a:lstStyle/>
          <a:p>
            <a:pPr indent="0" marL="0">
              <a:buNone/>
            </a:pPr>
            <a:r>
              <a:rPr lang="en-US" sz="3200" b="1" dirty="0">
                <a:solidFill>
                  <a:schemeClr val="accent2"/>
                </a:solidFill>
              </a:rPr>
              <a:t>9 / 11</a:t>
            </a:r>
            <a:endParaRPr lang="en-US" sz="3200" dirty="0"/>
          </a:p>
        </p:txBody>
      </p:sp>
      <p:sp>
        <p:nvSpPr>
          <p:cNvPr id="6" name="Text 4"/>
          <p:cNvSpPr txBox="1"/>
          <p:nvPr/>
        </p:nvSpPr>
        <p:spPr>
          <a:xfrm>
            <a:off x="749808" y="2359152"/>
            <a:ext cx="2560320" cy="411480"/>
          </a:xfrm>
          <a:prstGeom prst="rect">
            <a:avLst/>
          </a:prstGeom>
          <a:noFill/>
          <a:ln/>
        </p:spPr>
        <p:txBody>
          <a:bodyPr wrap="square" lIns="0" tIns="0" rIns="0" bIns="0" rtlCol="0" anchor="t"/>
          <a:lstStyle/>
          <a:p>
            <a:pPr indent="0" marL="0">
              <a:buNone/>
            </a:pPr>
            <a:r>
              <a:rPr lang="en-US" sz="1200" dirty="0">
                <a:solidFill>
                  <a:schemeClr val="tx1"/>
                </a:solidFill>
              </a:rPr>
              <a:t>returns home completed (82%)</a:t>
            </a:r>
            <a:endParaRPr lang="en-US" sz="1200" dirty="0"/>
          </a:p>
        </p:txBody>
      </p:sp>
      <p:sp>
        <p:nvSpPr>
          <p:cNvPr id="7" name="Shape 5"/>
          <p:cNvSpPr/>
          <p:nvPr/>
        </p:nvSpPr>
        <p:spPr>
          <a:xfrm>
            <a:off x="3611880" y="1645920"/>
            <a:ext cx="2880360" cy="1188720"/>
          </a:xfrm>
          <a:prstGeom prst="roundRect">
            <a:avLst>
              <a:gd name="adj" fmla="val 7692"/>
            </a:avLst>
          </a:prstGeom>
          <a:solidFill>
            <a:schemeClr val="bg2"/>
          </a:solidFill>
          <a:ln w="9525">
            <a:solidFill>
              <a:schemeClr val="bg2"/>
            </a:solidFill>
            <a:prstDash val="solid"/>
          </a:ln>
        </p:spPr>
      </p:sp>
      <p:sp>
        <p:nvSpPr>
          <p:cNvPr id="8" name="Text 6"/>
          <p:cNvSpPr txBox="1"/>
          <p:nvPr/>
        </p:nvSpPr>
        <p:spPr>
          <a:xfrm>
            <a:off x="3813048" y="1737360"/>
            <a:ext cx="2560320" cy="621792"/>
          </a:xfrm>
          <a:prstGeom prst="rect">
            <a:avLst/>
          </a:prstGeom>
          <a:noFill/>
          <a:ln/>
        </p:spPr>
        <p:txBody>
          <a:bodyPr wrap="square" lIns="0" tIns="0" rIns="0" bIns="0" rtlCol="0" anchor="ctr"/>
          <a:lstStyle/>
          <a:p>
            <a:pPr indent="0" marL="0">
              <a:buNone/>
            </a:pPr>
            <a:r>
              <a:rPr lang="en-US" sz="3200" b="1" dirty="0">
                <a:solidFill>
                  <a:schemeClr val="accent1"/>
                </a:solidFill>
              </a:rPr>
              <a:t>15.5 s</a:t>
            </a:r>
            <a:endParaRPr lang="en-US" sz="3200" dirty="0"/>
          </a:p>
        </p:txBody>
      </p:sp>
      <p:sp>
        <p:nvSpPr>
          <p:cNvPr id="9" name="Text 7"/>
          <p:cNvSpPr txBox="1"/>
          <p:nvPr/>
        </p:nvSpPr>
        <p:spPr>
          <a:xfrm>
            <a:off x="3813048" y="2359152"/>
            <a:ext cx="2560320" cy="411480"/>
          </a:xfrm>
          <a:prstGeom prst="rect">
            <a:avLst/>
          </a:prstGeom>
          <a:noFill/>
          <a:ln/>
        </p:spPr>
        <p:txBody>
          <a:bodyPr wrap="square" lIns="0" tIns="0" rIns="0" bIns="0" rtlCol="0" anchor="t"/>
          <a:lstStyle/>
          <a:p>
            <a:pPr indent="0" marL="0">
              <a:buNone/>
            </a:pPr>
            <a:r>
              <a:rPr lang="en-US" sz="1200" dirty="0">
                <a:solidFill>
                  <a:schemeClr val="tx1"/>
                </a:solidFill>
              </a:rPr>
              <a:t>mean time, gesture → home (11–21 s)</a:t>
            </a:r>
            <a:endParaRPr lang="en-US" sz="1200" dirty="0"/>
          </a:p>
        </p:txBody>
      </p:sp>
      <p:sp>
        <p:nvSpPr>
          <p:cNvPr id="10" name="Shape 8"/>
          <p:cNvSpPr/>
          <p:nvPr/>
        </p:nvSpPr>
        <p:spPr>
          <a:xfrm>
            <a:off x="548640" y="2971800"/>
            <a:ext cx="2880360" cy="1188720"/>
          </a:xfrm>
          <a:prstGeom prst="roundRect">
            <a:avLst>
              <a:gd name="adj" fmla="val 7692"/>
            </a:avLst>
          </a:prstGeom>
          <a:solidFill>
            <a:schemeClr val="bg2"/>
          </a:solidFill>
          <a:ln w="9525">
            <a:solidFill>
              <a:schemeClr val="bg2"/>
            </a:solidFill>
            <a:prstDash val="solid"/>
          </a:ln>
        </p:spPr>
      </p:sp>
      <p:sp>
        <p:nvSpPr>
          <p:cNvPr id="11" name="Text 9"/>
          <p:cNvSpPr txBox="1"/>
          <p:nvPr/>
        </p:nvSpPr>
        <p:spPr>
          <a:xfrm>
            <a:off x="749808" y="3063240"/>
            <a:ext cx="2560320" cy="621792"/>
          </a:xfrm>
          <a:prstGeom prst="rect">
            <a:avLst/>
          </a:prstGeom>
          <a:noFill/>
          <a:ln/>
        </p:spPr>
        <p:txBody>
          <a:bodyPr wrap="square" lIns="0" tIns="0" rIns="0" bIns="0" rtlCol="0" anchor="ctr"/>
          <a:lstStyle/>
          <a:p>
            <a:pPr indent="0" marL="0">
              <a:buNone/>
            </a:pPr>
            <a:r>
              <a:rPr lang="en-US" sz="3200" b="1" dirty="0">
                <a:solidFill>
                  <a:schemeClr val="accent1"/>
                </a:solidFill>
              </a:rPr>
              <a:t>0.27 m · 8°</a:t>
            </a:r>
            <a:endParaRPr lang="en-US" sz="3200" dirty="0"/>
          </a:p>
        </p:txBody>
      </p:sp>
      <p:sp>
        <p:nvSpPr>
          <p:cNvPr id="12" name="Text 10"/>
          <p:cNvSpPr txBox="1"/>
          <p:nvPr/>
        </p:nvSpPr>
        <p:spPr>
          <a:xfrm>
            <a:off x="749808" y="3685032"/>
            <a:ext cx="2560320" cy="411480"/>
          </a:xfrm>
          <a:prstGeom prst="rect">
            <a:avLst/>
          </a:prstGeom>
          <a:noFill/>
          <a:ln/>
        </p:spPr>
        <p:txBody>
          <a:bodyPr wrap="square" lIns="0" tIns="0" rIns="0" bIns="0" rtlCol="0" anchor="t"/>
          <a:lstStyle/>
          <a:p>
            <a:pPr indent="0" marL="0">
              <a:buNone/>
            </a:pPr>
            <a:r>
              <a:rPr lang="en-US" sz="1200" dirty="0">
                <a:solidFill>
                  <a:schemeClr val="tx1"/>
                </a:solidFill>
              </a:rPr>
              <a:t>mean arrival error (Nav2 tolerance 0.25 m / 14°)</a:t>
            </a:r>
            <a:endParaRPr lang="en-US" sz="1200" dirty="0"/>
          </a:p>
        </p:txBody>
      </p:sp>
      <p:sp>
        <p:nvSpPr>
          <p:cNvPr id="13" name="Shape 11"/>
          <p:cNvSpPr/>
          <p:nvPr/>
        </p:nvSpPr>
        <p:spPr>
          <a:xfrm>
            <a:off x="3611880" y="2971800"/>
            <a:ext cx="2880360" cy="1188720"/>
          </a:xfrm>
          <a:prstGeom prst="roundRect">
            <a:avLst>
              <a:gd name="adj" fmla="val 7692"/>
            </a:avLst>
          </a:prstGeom>
          <a:solidFill>
            <a:schemeClr val="bg2"/>
          </a:solidFill>
          <a:ln w="9525">
            <a:solidFill>
              <a:schemeClr val="bg2"/>
            </a:solidFill>
            <a:prstDash val="solid"/>
          </a:ln>
        </p:spPr>
      </p:sp>
      <p:sp>
        <p:nvSpPr>
          <p:cNvPr id="14" name="Text 12"/>
          <p:cNvSpPr txBox="1"/>
          <p:nvPr/>
        </p:nvSpPr>
        <p:spPr>
          <a:xfrm>
            <a:off x="3813048" y="3063240"/>
            <a:ext cx="2560320" cy="621792"/>
          </a:xfrm>
          <a:prstGeom prst="rect">
            <a:avLst/>
          </a:prstGeom>
          <a:noFill/>
          <a:ln/>
        </p:spPr>
        <p:txBody>
          <a:bodyPr wrap="square" lIns="0" tIns="0" rIns="0" bIns="0" rtlCol="0" anchor="ctr"/>
          <a:lstStyle/>
          <a:p>
            <a:pPr indent="0" marL="0">
              <a:buNone/>
            </a:pPr>
            <a:r>
              <a:rPr lang="en-US" sz="3200" b="1" dirty="0">
                <a:solidFill>
                  <a:schemeClr val="accent1"/>
                </a:solidFill>
              </a:rPr>
              <a:t>20 ms</a:t>
            </a:r>
            <a:endParaRPr lang="en-US" sz="3200" dirty="0"/>
          </a:p>
        </p:txBody>
      </p:sp>
      <p:sp>
        <p:nvSpPr>
          <p:cNvPr id="15" name="Text 13"/>
          <p:cNvSpPr txBox="1"/>
          <p:nvPr/>
        </p:nvSpPr>
        <p:spPr>
          <a:xfrm>
            <a:off x="3813048" y="3685032"/>
            <a:ext cx="2560320" cy="411480"/>
          </a:xfrm>
          <a:prstGeom prst="rect">
            <a:avLst/>
          </a:prstGeom>
          <a:noFill/>
          <a:ln/>
        </p:spPr>
        <p:txBody>
          <a:bodyPr wrap="square" lIns="0" tIns="0" rIns="0" bIns="0" rtlCol="0" anchor="t"/>
          <a:lstStyle/>
          <a:p>
            <a:pPr indent="0" marL="0">
              <a:buNone/>
            </a:pPr>
            <a:r>
              <a:rPr lang="en-US" sz="1200" dirty="0">
                <a:solidFill>
                  <a:schemeClr val="tx1"/>
                </a:solidFill>
              </a:rPr>
              <a:t>cancel with the left hand (≈ 7 cm of travel)</a:t>
            </a:r>
            <a:endParaRPr lang="en-US" sz="1200" dirty="0"/>
          </a:p>
        </p:txBody>
      </p:sp>
      <p:sp>
        <p:nvSpPr>
          <p:cNvPr id="16" name="Shape 14"/>
          <p:cNvSpPr/>
          <p:nvPr/>
        </p:nvSpPr>
        <p:spPr>
          <a:xfrm>
            <a:off x="548640" y="4297680"/>
            <a:ext cx="2880360" cy="1188720"/>
          </a:xfrm>
          <a:prstGeom prst="roundRect">
            <a:avLst>
              <a:gd name="adj" fmla="val 7692"/>
            </a:avLst>
          </a:prstGeom>
          <a:solidFill>
            <a:schemeClr val="bg2"/>
          </a:solidFill>
          <a:ln w="9525">
            <a:solidFill>
              <a:schemeClr val="bg2"/>
            </a:solidFill>
            <a:prstDash val="solid"/>
          </a:ln>
        </p:spPr>
      </p:sp>
      <p:sp>
        <p:nvSpPr>
          <p:cNvPr id="17" name="Text 15"/>
          <p:cNvSpPr txBox="1"/>
          <p:nvPr/>
        </p:nvSpPr>
        <p:spPr>
          <a:xfrm>
            <a:off x="749808" y="4389120"/>
            <a:ext cx="2560320" cy="621792"/>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18" name="Text 16"/>
          <p:cNvSpPr txBox="1"/>
          <p:nvPr/>
        </p:nvSpPr>
        <p:spPr>
          <a:xfrm>
            <a:off x="749808" y="5010912"/>
            <a:ext cx="2560320" cy="411480"/>
          </a:xfrm>
          <a:prstGeom prst="rect">
            <a:avLst/>
          </a:prstGeom>
          <a:noFill/>
          <a:ln/>
        </p:spPr>
        <p:txBody>
          <a:bodyPr wrap="square" lIns="0" tIns="0" rIns="0" bIns="0" rtlCol="0" anchor="t"/>
          <a:lstStyle/>
          <a:p>
            <a:pPr indent="0" marL="0">
              <a:buNone/>
            </a:pPr>
            <a:r>
              <a:rPr lang="en-US" sz="1200" dirty="0">
                <a:solidFill>
                  <a:schemeClr val="tx1"/>
                </a:solidFill>
              </a:rPr>
              <a:t>gesture false positives in ≈ 4 min</a:t>
            </a:r>
            <a:endParaRPr lang="en-US" sz="1200" dirty="0"/>
          </a:p>
        </p:txBody>
      </p:sp>
      <p:sp>
        <p:nvSpPr>
          <p:cNvPr id="19" name="Shape 17"/>
          <p:cNvSpPr/>
          <p:nvPr/>
        </p:nvSpPr>
        <p:spPr>
          <a:xfrm>
            <a:off x="3611880" y="4297680"/>
            <a:ext cx="2880360" cy="1188720"/>
          </a:xfrm>
          <a:prstGeom prst="roundRect">
            <a:avLst>
              <a:gd name="adj" fmla="val 7692"/>
            </a:avLst>
          </a:prstGeom>
          <a:solidFill>
            <a:schemeClr val="bg2"/>
          </a:solidFill>
          <a:ln w="9525">
            <a:solidFill>
              <a:schemeClr val="bg2"/>
            </a:solidFill>
            <a:prstDash val="solid"/>
          </a:ln>
        </p:spPr>
      </p:sp>
      <p:sp>
        <p:nvSpPr>
          <p:cNvPr id="20" name="Text 18"/>
          <p:cNvSpPr txBox="1"/>
          <p:nvPr/>
        </p:nvSpPr>
        <p:spPr>
          <a:xfrm>
            <a:off x="3813048" y="4389120"/>
            <a:ext cx="2560320" cy="621792"/>
          </a:xfrm>
          <a:prstGeom prst="rect">
            <a:avLst/>
          </a:prstGeom>
          <a:noFill/>
          <a:ln/>
        </p:spPr>
        <p:txBody>
          <a:bodyPr wrap="square" lIns="0" tIns="0" rIns="0" bIns="0" rtlCol="0" anchor="ctr"/>
          <a:lstStyle/>
          <a:p>
            <a:pPr indent="0" marL="0">
              <a:buNone/>
            </a:pPr>
            <a:r>
              <a:rPr lang="en-US" sz="3200" b="1" dirty="0">
                <a:solidFill>
                  <a:schemeClr val="accent1"/>
                </a:solidFill>
              </a:rPr>
              <a:t>2 / 2</a:t>
            </a:r>
            <a:endParaRPr lang="en-US" sz="3200" dirty="0"/>
          </a:p>
        </p:txBody>
      </p:sp>
      <p:sp>
        <p:nvSpPr>
          <p:cNvPr id="21" name="Text 19"/>
          <p:cNvSpPr txBox="1"/>
          <p:nvPr/>
        </p:nvSpPr>
        <p:spPr>
          <a:xfrm>
            <a:off x="3813048" y="5010912"/>
            <a:ext cx="2560320" cy="411480"/>
          </a:xfrm>
          <a:prstGeom prst="rect">
            <a:avLst/>
          </a:prstGeom>
          <a:noFill/>
          <a:ln/>
        </p:spPr>
        <p:txBody>
          <a:bodyPr wrap="square" lIns="0" tIns="0" rIns="0" bIns="0" rtlCol="0" anchor="t"/>
          <a:lstStyle/>
          <a:p>
            <a:pPr indent="0" marL="0">
              <a:buNone/>
            </a:pPr>
            <a:r>
              <a:rPr lang="en-US" sz="1200" dirty="0">
                <a:solidFill>
                  <a:schemeClr val="tx1"/>
                </a:solidFill>
              </a:rPr>
              <a:t>“roof” recognized from behind</a:t>
            </a:r>
            <a:endParaRPr lang="en-US" sz="1200" dirty="0"/>
          </a:p>
        </p:txBody>
      </p:sp>
      <p:pic>
        <p:nvPicPr>
          <p:cNvPr id="22" name="Image 0" descr="preencoded.png">    </p:cNvPr>
          <p:cNvPicPr>
            <a:picLocks noChangeAspect="1"/>
          </p:cNvPicPr>
          <p:nvPr/>
        </p:nvPicPr>
        <p:blipFill>
          <a:blip r:embed="rId1"/>
          <a:stretch>
            <a:fillRect/>
          </a:stretch>
        </p:blipFill>
        <p:spPr>
          <a:xfrm>
            <a:off x="566928" y="5715000"/>
            <a:ext cx="237744" cy="237744"/>
          </a:xfrm>
          <a:prstGeom prst="rect">
            <a:avLst/>
          </a:prstGeom>
        </p:spPr>
      </p:pic>
      <p:sp>
        <p:nvSpPr>
          <p:cNvPr id="23" name="Text 20"/>
          <p:cNvSpPr txBox="1"/>
          <p:nvPr/>
        </p:nvSpPr>
        <p:spPr>
          <a:xfrm>
            <a:off x="914400" y="5641848"/>
            <a:ext cx="5166360" cy="640080"/>
          </a:xfrm>
          <a:prstGeom prst="rect">
            <a:avLst/>
          </a:prstGeom>
          <a:noFill/>
          <a:ln/>
        </p:spPr>
        <p:txBody>
          <a:bodyPr wrap="square" lIns="0" tIns="0" rIns="0" bIns="0" rtlCol="0" anchor="t"/>
          <a:lstStyle/>
          <a:p>
            <a:pPr indent="0" marL="0">
              <a:buNone/>
            </a:pPr>
            <a:r>
              <a:rPr lang="en-US" sz="1200" b="1" dirty="0">
                <a:solidFill>
                  <a:schemeClr val="tx2"/>
                </a:solidFill>
              </a:rPr>
              <a:t>Both failures: </a:t>
            </a:r>
            <a:pPr indent="0" marL="0">
              <a:buNone/>
            </a:pPr>
            <a:r>
              <a:rPr lang="en-US" sz="1200" dirty="0">
                <a:solidFill>
                  <a:schemeClr val="tx1"/>
                </a:solidFill>
              </a:rPr>
              <a:t>localization (AMCL, σ ≈ 0.5 m) put the robot inside an obstacle’s safety zone → no valid plan → safe return to IDLE.</a:t>
            </a:r>
            <a:endParaRPr lang="en-US" sz="1200" dirty="0"/>
          </a:p>
        </p:txBody>
      </p:sp>
      <p:pic>
        <p:nvPicPr>
          <p:cNvPr id="24" name="Fig 5.5 return trajectories" descr="C:\Users\Juan.munoz\AppData\Local\Temp\claude\C--Users-Juan-munoz-Desktop-Jmr-tfm-memoria\6d0452c8-2f0a-46f5-9e7c-31797a7e3d61\scratchpad\deck\assets\en_fig5.5.png">    </p:cNvPr>
          <p:cNvPicPr>
            <a:picLocks noChangeAspect="1"/>
          </p:cNvPicPr>
          <p:nvPr/>
        </p:nvPicPr>
        <p:blipFill>
          <a:blip r:embed="rId2"/>
          <a:stretch>
            <a:fillRect/>
          </a:stretch>
        </p:blipFill>
        <p:spPr>
          <a:xfrm>
            <a:off x="6675120" y="1600200"/>
            <a:ext cx="5116222" cy="4526280"/>
          </a:xfrm>
          <a:prstGeom prst="rect">
            <a:avLst/>
          </a:prstGeom>
        </p:spPr>
      </p:pic>
      <p:sp>
        <p:nvSpPr>
          <p:cNvPr id="25" name="Text 21"/>
          <p:cNvSpPr txBox="1"/>
          <p:nvPr/>
        </p:nvSpPr>
        <p:spPr>
          <a:xfrm>
            <a:off x="6675120" y="6144768"/>
            <a:ext cx="5120640" cy="228600"/>
          </a:xfrm>
          <a:prstGeom prst="rect">
            <a:avLst/>
          </a:prstGeom>
          <a:noFill/>
          <a:ln/>
        </p:spPr>
        <p:txBody>
          <a:bodyPr wrap="square" lIns="0" tIns="0" rIns="0" bIns="0" rtlCol="0" anchor="t"/>
          <a:lstStyle/>
          <a:p>
            <a:pPr indent="0" marL="0">
              <a:buNone/>
            </a:pPr>
            <a:r>
              <a:rPr lang="en-US" sz="1000" i="1" dirty="0">
                <a:solidFill>
                  <a:schemeClr val="accent6"/>
                </a:solidFill>
              </a:rPr>
              <a:t>Recorded returns on the lab map (Fig. 5.5). The star marks “home”.</a:t>
            </a:r>
            <a:endParaRPr lang="en-US" sz="10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Measure, don’t guess</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Every correction was checked on the real robot, with numbers rather than impressions.</a:t>
            </a:r>
            <a:endParaRPr lang="en-US" sz="1600" dirty="0"/>
          </a:p>
        </p:txBody>
      </p:sp>
      <p:sp>
        <p:nvSpPr>
          <p:cNvPr id="4" name="Shape 2"/>
          <p:cNvSpPr/>
          <p:nvPr/>
        </p:nvSpPr>
        <p:spPr>
          <a:xfrm>
            <a:off x="1197864" y="1691640"/>
            <a:ext cx="658368" cy="658368"/>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355872" y="1849648"/>
            <a:ext cx="342351" cy="342351"/>
          </a:xfrm>
          <a:prstGeom prst="rect">
            <a:avLst/>
          </a:prstGeom>
        </p:spPr>
      </p:pic>
      <p:sp>
        <p:nvSpPr>
          <p:cNvPr id="6" name="Text 3"/>
          <p:cNvSpPr txBox="1"/>
          <p:nvPr/>
        </p:nvSpPr>
        <p:spPr>
          <a:xfrm>
            <a:off x="475488" y="2450592"/>
            <a:ext cx="2103120" cy="640080"/>
          </a:xfrm>
          <a:prstGeom prst="rect">
            <a:avLst/>
          </a:prstGeom>
          <a:noFill/>
          <a:ln/>
        </p:spPr>
        <p:txBody>
          <a:bodyPr wrap="square" lIns="0" tIns="0" rIns="0" bIns="0" rtlCol="0" anchor="t"/>
          <a:lstStyle/>
          <a:p>
            <a:pPr algn="ctr" indent="0" marL="0">
              <a:buNone/>
            </a:pPr>
            <a:r>
              <a:rPr lang="en-US" sz="1200" dirty="0">
                <a:solidFill>
                  <a:schemeClr val="tx2"/>
                </a:solidFill>
              </a:rPr>
              <a:t>Take on</a:t>
            </a:r>
            <a:endParaRPr lang="en-US" sz="1200" dirty="0"/>
          </a:p>
          <a:p>
            <a:pPr algn="ctr" indent="0" marL="0">
              <a:buNone/>
            </a:pPr>
            <a:r>
              <a:rPr lang="en-US" sz="1200" dirty="0">
                <a:solidFill>
                  <a:schemeClr val="tx2"/>
                </a:solidFill>
              </a:rPr>
              <a:t>the robot</a:t>
            </a:r>
            <a:endParaRPr lang="en-US" sz="1200" dirty="0"/>
          </a:p>
        </p:txBody>
      </p:sp>
      <p:sp>
        <p:nvSpPr>
          <p:cNvPr id="7" name="Shape 4"/>
          <p:cNvSpPr/>
          <p:nvPr/>
        </p:nvSpPr>
        <p:spPr>
          <a:xfrm>
            <a:off x="1965960" y="2020824"/>
            <a:ext cx="1389888" cy="0"/>
          </a:xfrm>
          <a:prstGeom prst="line">
            <a:avLst/>
          </a:prstGeom>
          <a:noFill/>
          <a:ln w="19050">
            <a:solidFill>
              <a:schemeClr val="accent6"/>
            </a:solidFill>
            <a:prstDash val="solid"/>
            <a:tailEnd type="triangle"/>
          </a:ln>
        </p:spPr>
      </p:sp>
      <p:sp>
        <p:nvSpPr>
          <p:cNvPr id="8" name="Shape 5"/>
          <p:cNvSpPr/>
          <p:nvPr/>
        </p:nvSpPr>
        <p:spPr>
          <a:xfrm>
            <a:off x="3465576" y="1691640"/>
            <a:ext cx="658368" cy="658368"/>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3623584" y="1849648"/>
            <a:ext cx="342351" cy="342351"/>
          </a:xfrm>
          <a:prstGeom prst="rect">
            <a:avLst/>
          </a:prstGeom>
        </p:spPr>
      </p:pic>
      <p:sp>
        <p:nvSpPr>
          <p:cNvPr id="10" name="Text 6"/>
          <p:cNvSpPr txBox="1"/>
          <p:nvPr/>
        </p:nvSpPr>
        <p:spPr>
          <a:xfrm>
            <a:off x="2743200" y="2450592"/>
            <a:ext cx="2103120" cy="640080"/>
          </a:xfrm>
          <a:prstGeom prst="rect">
            <a:avLst/>
          </a:prstGeom>
          <a:noFill/>
          <a:ln/>
        </p:spPr>
        <p:txBody>
          <a:bodyPr wrap="square" lIns="0" tIns="0" rIns="0" bIns="0" rtlCol="0" anchor="t"/>
          <a:lstStyle/>
          <a:p>
            <a:pPr algn="ctr" indent="0" marL="0">
              <a:buNone/>
            </a:pPr>
            <a:r>
              <a:rPr lang="en-US" sz="1200" dirty="0">
                <a:solidFill>
                  <a:schemeClr val="tx2"/>
                </a:solidFill>
              </a:rPr>
              <a:t>rosbag</a:t>
            </a:r>
            <a:endParaRPr lang="en-US" sz="1200" dirty="0"/>
          </a:p>
          <a:p>
            <a:pPr algn="ctr" indent="0" marL="0">
              <a:buNone/>
            </a:pPr>
            <a:r>
              <a:rPr lang="en-US" sz="1200" dirty="0">
                <a:solidFill>
                  <a:schemeClr val="tx2"/>
                </a:solidFill>
              </a:rPr>
              <a:t>on the NUC</a:t>
            </a:r>
            <a:endParaRPr lang="en-US" sz="1200" dirty="0"/>
          </a:p>
        </p:txBody>
      </p:sp>
      <p:sp>
        <p:nvSpPr>
          <p:cNvPr id="11" name="Shape 7"/>
          <p:cNvSpPr/>
          <p:nvPr/>
        </p:nvSpPr>
        <p:spPr>
          <a:xfrm>
            <a:off x="4233672" y="2020824"/>
            <a:ext cx="1389888" cy="0"/>
          </a:xfrm>
          <a:prstGeom prst="line">
            <a:avLst/>
          </a:prstGeom>
          <a:noFill/>
          <a:ln w="19050">
            <a:solidFill>
              <a:schemeClr val="accent6"/>
            </a:solidFill>
            <a:prstDash val="solid"/>
            <a:tailEnd type="triangle"/>
          </a:ln>
        </p:spPr>
      </p:sp>
      <p:sp>
        <p:nvSpPr>
          <p:cNvPr id="12" name="Shape 8"/>
          <p:cNvSpPr/>
          <p:nvPr/>
        </p:nvSpPr>
        <p:spPr>
          <a:xfrm>
            <a:off x="5733288" y="1691640"/>
            <a:ext cx="658368" cy="658368"/>
          </a:xfrm>
          <a:prstGeom prst="ellipse">
            <a:avLst/>
          </a:prstGeom>
          <a:solidFill>
            <a:schemeClr val="accent1"/>
          </a:solidFill>
          <a:ln w="12700">
            <a:solidFill>
              <a:schemeClr val="accent1"/>
            </a:solidFill>
            <a:prstDash val="solid"/>
          </a:ln>
        </p:spPr>
      </p:sp>
      <p:pic>
        <p:nvPicPr>
          <p:cNvPr id="13" name="Image 2" descr="preencoded.png">    </p:cNvPr>
          <p:cNvPicPr>
            <a:picLocks noChangeAspect="1"/>
          </p:cNvPicPr>
          <p:nvPr/>
        </p:nvPicPr>
        <p:blipFill>
          <a:blip r:embed="rId3"/>
          <a:stretch>
            <a:fillRect/>
          </a:stretch>
        </p:blipFill>
        <p:spPr>
          <a:xfrm>
            <a:off x="5891296" y="1849648"/>
            <a:ext cx="342351" cy="342351"/>
          </a:xfrm>
          <a:prstGeom prst="rect">
            <a:avLst/>
          </a:prstGeom>
        </p:spPr>
      </p:pic>
      <p:sp>
        <p:nvSpPr>
          <p:cNvPr id="14" name="Text 9"/>
          <p:cNvSpPr txBox="1"/>
          <p:nvPr/>
        </p:nvSpPr>
        <p:spPr>
          <a:xfrm>
            <a:off x="5010912" y="2450592"/>
            <a:ext cx="2103120" cy="640080"/>
          </a:xfrm>
          <a:prstGeom prst="rect">
            <a:avLst/>
          </a:prstGeom>
          <a:noFill/>
          <a:ln/>
        </p:spPr>
        <p:txBody>
          <a:bodyPr wrap="square" lIns="0" tIns="0" rIns="0" bIns="0" rtlCol="0" anchor="t"/>
          <a:lstStyle/>
          <a:p>
            <a:pPr algn="ctr" indent="0" marL="0">
              <a:buNone/>
            </a:pPr>
            <a:r>
              <a:rPr lang="en-US" sz="1200" dirty="0">
                <a:solidFill>
                  <a:schemeClr val="tx2"/>
                </a:solidFill>
              </a:rPr>
              <a:t>CSV + metrics</a:t>
            </a:r>
            <a:endParaRPr lang="en-US" sz="1200" dirty="0"/>
          </a:p>
          <a:p>
            <a:pPr algn="ctr" indent="0" marL="0">
              <a:buNone/>
            </a:pPr>
            <a:r>
              <a:rPr lang="en-US" sz="1200" dirty="0">
                <a:solidFill>
                  <a:schemeClr val="tx2"/>
                </a:solidFill>
              </a:rPr>
              <a:t>MAE · RMS · % detection</a:t>
            </a:r>
            <a:endParaRPr lang="en-US" sz="1200" dirty="0"/>
          </a:p>
        </p:txBody>
      </p:sp>
      <p:sp>
        <p:nvSpPr>
          <p:cNvPr id="15" name="Shape 10"/>
          <p:cNvSpPr/>
          <p:nvPr/>
        </p:nvSpPr>
        <p:spPr>
          <a:xfrm>
            <a:off x="6501384" y="2020824"/>
            <a:ext cx="1389888" cy="0"/>
          </a:xfrm>
          <a:prstGeom prst="line">
            <a:avLst/>
          </a:prstGeom>
          <a:noFill/>
          <a:ln w="19050">
            <a:solidFill>
              <a:schemeClr val="accent6"/>
            </a:solidFill>
            <a:prstDash val="solid"/>
            <a:tailEnd type="triangle"/>
          </a:ln>
        </p:spPr>
      </p:sp>
      <p:sp>
        <p:nvSpPr>
          <p:cNvPr id="16" name="Shape 11"/>
          <p:cNvSpPr/>
          <p:nvPr/>
        </p:nvSpPr>
        <p:spPr>
          <a:xfrm>
            <a:off x="8001000" y="1691640"/>
            <a:ext cx="658368" cy="658368"/>
          </a:xfrm>
          <a:prstGeom prst="ellipse">
            <a:avLst/>
          </a:prstGeom>
          <a:solidFill>
            <a:schemeClr val="accent1"/>
          </a:solidFill>
          <a:ln w="12700">
            <a:solidFill>
              <a:schemeClr val="accent1"/>
            </a:solidFill>
            <a:prstDash val="solid"/>
          </a:ln>
        </p:spPr>
      </p:sp>
      <p:pic>
        <p:nvPicPr>
          <p:cNvPr id="17" name="Image 3" descr="preencoded.png">    </p:cNvPr>
          <p:cNvPicPr>
            <a:picLocks noChangeAspect="1"/>
          </p:cNvPicPr>
          <p:nvPr/>
        </p:nvPicPr>
        <p:blipFill>
          <a:blip r:embed="rId4"/>
          <a:stretch>
            <a:fillRect/>
          </a:stretch>
        </p:blipFill>
        <p:spPr>
          <a:xfrm>
            <a:off x="8159008" y="1849648"/>
            <a:ext cx="342351" cy="342351"/>
          </a:xfrm>
          <a:prstGeom prst="rect">
            <a:avLst/>
          </a:prstGeom>
        </p:spPr>
      </p:pic>
      <p:sp>
        <p:nvSpPr>
          <p:cNvPr id="18" name="Text 12"/>
          <p:cNvSpPr txBox="1"/>
          <p:nvPr/>
        </p:nvSpPr>
        <p:spPr>
          <a:xfrm>
            <a:off x="7278624" y="2450592"/>
            <a:ext cx="2103120" cy="640080"/>
          </a:xfrm>
          <a:prstGeom prst="rect">
            <a:avLst/>
          </a:prstGeom>
          <a:noFill/>
          <a:ln/>
        </p:spPr>
        <p:txBody>
          <a:bodyPr wrap="square" lIns="0" tIns="0" rIns="0" bIns="0" rtlCol="0" anchor="t"/>
          <a:lstStyle/>
          <a:p>
            <a:pPr algn="ctr" indent="0" marL="0">
              <a:buNone/>
            </a:pPr>
            <a:r>
              <a:rPr lang="en-US" sz="1200" dirty="0">
                <a:solidFill>
                  <a:schemeClr val="tx2"/>
                </a:solidFill>
              </a:rPr>
              <a:t>4 figures</a:t>
            </a:r>
            <a:endParaRPr lang="en-US" sz="1200" dirty="0"/>
          </a:p>
          <a:p>
            <a:pPr algn="ctr" indent="0" marL="0">
              <a:buNone/>
            </a:pPr>
            <a:r>
              <a:rPr lang="en-US" sz="1200" dirty="0">
                <a:solidFill>
                  <a:schemeClr val="tx2"/>
                </a:solidFill>
              </a:rPr>
              <a:t>distance · angle · velocity · path</a:t>
            </a:r>
            <a:endParaRPr lang="en-US" sz="1200" dirty="0"/>
          </a:p>
        </p:txBody>
      </p:sp>
      <p:sp>
        <p:nvSpPr>
          <p:cNvPr id="19" name="Shape 13"/>
          <p:cNvSpPr/>
          <p:nvPr/>
        </p:nvSpPr>
        <p:spPr>
          <a:xfrm>
            <a:off x="8769096" y="2020824"/>
            <a:ext cx="1389888" cy="0"/>
          </a:xfrm>
          <a:prstGeom prst="line">
            <a:avLst/>
          </a:prstGeom>
          <a:noFill/>
          <a:ln w="19050">
            <a:solidFill>
              <a:schemeClr val="accent6"/>
            </a:solidFill>
            <a:prstDash val="solid"/>
            <a:tailEnd type="triangle"/>
          </a:ln>
        </p:spPr>
      </p:sp>
      <p:sp>
        <p:nvSpPr>
          <p:cNvPr id="20" name="Shape 14"/>
          <p:cNvSpPr/>
          <p:nvPr/>
        </p:nvSpPr>
        <p:spPr>
          <a:xfrm>
            <a:off x="10268712" y="1691640"/>
            <a:ext cx="658368" cy="658368"/>
          </a:xfrm>
          <a:prstGeom prst="ellipse">
            <a:avLst/>
          </a:prstGeom>
          <a:solidFill>
            <a:schemeClr val="accent2"/>
          </a:solidFill>
          <a:ln w="12700">
            <a:solidFill>
              <a:schemeClr val="accent2"/>
            </a:solidFill>
            <a:prstDash val="solid"/>
          </a:ln>
        </p:spPr>
      </p:sp>
      <p:pic>
        <p:nvPicPr>
          <p:cNvPr id="21" name="Image 4" descr="preencoded.png">    </p:cNvPr>
          <p:cNvPicPr>
            <a:picLocks noChangeAspect="1"/>
          </p:cNvPicPr>
          <p:nvPr/>
        </p:nvPicPr>
        <p:blipFill>
          <a:blip r:embed="rId5"/>
          <a:stretch>
            <a:fillRect/>
          </a:stretch>
        </p:blipFill>
        <p:spPr>
          <a:xfrm>
            <a:off x="10426720" y="1849648"/>
            <a:ext cx="342351" cy="342351"/>
          </a:xfrm>
          <a:prstGeom prst="rect">
            <a:avLst/>
          </a:prstGeom>
        </p:spPr>
      </p:pic>
      <p:sp>
        <p:nvSpPr>
          <p:cNvPr id="22" name="Text 15"/>
          <p:cNvSpPr txBox="1"/>
          <p:nvPr/>
        </p:nvSpPr>
        <p:spPr>
          <a:xfrm>
            <a:off x="9546336" y="2450592"/>
            <a:ext cx="2103120" cy="640080"/>
          </a:xfrm>
          <a:prstGeom prst="rect">
            <a:avLst/>
          </a:prstGeom>
          <a:noFill/>
          <a:ln/>
        </p:spPr>
        <p:txBody>
          <a:bodyPr wrap="square" lIns="0" tIns="0" rIns="0" bIns="0" rtlCol="0" anchor="t"/>
          <a:lstStyle/>
          <a:p>
            <a:pPr algn="ctr" indent="0" marL="0">
              <a:buNone/>
            </a:pPr>
            <a:r>
              <a:rPr lang="en-US" sz="1200" dirty="0">
                <a:solidFill>
                  <a:schemeClr val="tx2"/>
                </a:solidFill>
              </a:rPr>
              <a:t>Fix and</a:t>
            </a:r>
            <a:endParaRPr lang="en-US" sz="1200" dirty="0"/>
          </a:p>
          <a:p>
            <a:pPr algn="ctr" indent="0" marL="0">
              <a:buNone/>
            </a:pPr>
            <a:r>
              <a:rPr lang="en-US" sz="1200" dirty="0">
                <a:solidFill>
                  <a:schemeClr val="tx2"/>
                </a:solidFill>
              </a:rPr>
              <a:t>repeat</a:t>
            </a:r>
            <a:endParaRPr lang="en-US" sz="1200" dirty="0"/>
          </a:p>
        </p:txBody>
      </p:sp>
      <p:sp>
        <p:nvSpPr>
          <p:cNvPr id="23" name="Shape 16"/>
          <p:cNvSpPr/>
          <p:nvPr/>
        </p:nvSpPr>
        <p:spPr>
          <a:xfrm>
            <a:off x="548640" y="3337560"/>
            <a:ext cx="5120640" cy="2880360"/>
          </a:xfrm>
          <a:prstGeom prst="roundRect">
            <a:avLst>
              <a:gd name="adj" fmla="val 3175"/>
            </a:avLst>
          </a:prstGeom>
          <a:solidFill>
            <a:schemeClr val="bg2"/>
          </a:solidFill>
          <a:ln w="9525">
            <a:solidFill>
              <a:schemeClr val="bg2"/>
            </a:solidFill>
            <a:prstDash val="solid"/>
          </a:ln>
        </p:spPr>
      </p:sp>
      <p:sp>
        <p:nvSpPr>
          <p:cNvPr id="24" name="Shape 17"/>
          <p:cNvSpPr/>
          <p:nvPr/>
        </p:nvSpPr>
        <p:spPr>
          <a:xfrm>
            <a:off x="777240" y="3547872"/>
            <a:ext cx="502920" cy="502920"/>
          </a:xfrm>
          <a:prstGeom prst="ellipse">
            <a:avLst/>
          </a:prstGeom>
          <a:solidFill>
            <a:schemeClr val="accent5"/>
          </a:solidFill>
          <a:ln w="12700">
            <a:solidFill>
              <a:schemeClr val="accent5"/>
            </a:solidFill>
            <a:prstDash val="solid"/>
          </a:ln>
        </p:spPr>
      </p:sp>
      <p:pic>
        <p:nvPicPr>
          <p:cNvPr id="25" name="Image 5" descr="preencoded.png">    </p:cNvPr>
          <p:cNvPicPr>
            <a:picLocks noChangeAspect="1"/>
          </p:cNvPicPr>
          <p:nvPr/>
        </p:nvPicPr>
        <p:blipFill>
          <a:blip r:embed="rId6"/>
          <a:stretch>
            <a:fillRect/>
          </a:stretch>
        </p:blipFill>
        <p:spPr>
          <a:xfrm>
            <a:off x="897941" y="3668573"/>
            <a:ext cx="261518" cy="261518"/>
          </a:xfrm>
          <a:prstGeom prst="rect">
            <a:avLst/>
          </a:prstGeom>
        </p:spPr>
      </p:pic>
      <p:sp>
        <p:nvSpPr>
          <p:cNvPr id="26" name="Text 18"/>
          <p:cNvSpPr txBox="1"/>
          <p:nvPr/>
        </p:nvSpPr>
        <p:spPr>
          <a:xfrm>
            <a:off x="1417320" y="3566160"/>
            <a:ext cx="4114800" cy="457200"/>
          </a:xfrm>
          <a:prstGeom prst="rect">
            <a:avLst/>
          </a:prstGeom>
          <a:noFill/>
          <a:ln/>
        </p:spPr>
        <p:txBody>
          <a:bodyPr wrap="square" lIns="0" tIns="0" rIns="0" bIns="0" rtlCol="0" anchor="ctr"/>
          <a:lstStyle/>
          <a:p>
            <a:pPr indent="0" marL="0">
              <a:buNone/>
            </a:pPr>
            <a:r>
              <a:rPr lang="en-US" sz="1600" b="1" dirty="0">
                <a:solidFill>
                  <a:schemeClr val="tx2"/>
                </a:solidFill>
              </a:rPr>
              <a:t>Bugs that only showed up in the lab</a:t>
            </a:r>
            <a:endParaRPr lang="en-US" sz="1600" dirty="0"/>
          </a:p>
        </p:txBody>
      </p:sp>
      <p:sp>
        <p:nvSpPr>
          <p:cNvPr id="27" name="Text 19"/>
          <p:cNvSpPr txBox="1"/>
          <p:nvPr/>
        </p:nvSpPr>
        <p:spPr>
          <a:xfrm>
            <a:off x="822960" y="4206240"/>
            <a:ext cx="466344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Inverted sign in the PD heading controller</a:t>
            </a:r>
            <a:endParaRPr lang="en-US" sz="1600" dirty="0"/>
          </a:p>
          <a:p>
            <a:pPr marL="342900" indent="-342900">
              <a:spcAft>
                <a:spcPts val="800"/>
              </a:spcAft>
              <a:buSzPct val="100000"/>
              <a:buChar char="•"/>
            </a:pPr>
            <a:r>
              <a:rPr lang="en-US" sz="1600" dirty="0">
                <a:solidFill>
                  <a:schemeClr val="tx1"/>
                </a:solidFill>
              </a:rPr>
              <a:t>Inverted obstacle-avoidance sector</a:t>
            </a:r>
            <a:endParaRPr lang="en-US" sz="1600" dirty="0"/>
          </a:p>
          <a:p>
            <a:pPr marL="342900" indent="-342900">
              <a:spcAft>
                <a:spcPts val="800"/>
              </a:spcAft>
              <a:buSzPct val="100000"/>
              <a:buChar char="•"/>
            </a:pPr>
            <a:r>
              <a:rPr lang="en-US" sz="1600" dirty="0">
                <a:solidFill>
                  <a:schemeClr val="tx1"/>
                </a:solidFill>
              </a:rPr>
              <a:t>Slow-down factor that never reached zero</a:t>
            </a:r>
            <a:endParaRPr lang="en-US" sz="1600" dirty="0"/>
          </a:p>
          <a:p>
            <a:pPr marL="342900" indent="-342900">
              <a:spcAft>
                <a:spcPts val="800"/>
              </a:spcAft>
              <a:buSzPct val="100000"/>
              <a:buChar char="•"/>
            </a:pPr>
            <a:r>
              <a:rPr lang="en-US" sz="1600" dirty="0">
                <a:solidFill>
                  <a:schemeClr val="tx1"/>
                </a:solidFill>
              </a:rPr>
              <a:t>DDS discovery latency (AMCL looked frozen)</a:t>
            </a:r>
            <a:endParaRPr lang="en-US" sz="1600" dirty="0"/>
          </a:p>
        </p:txBody>
      </p:sp>
      <p:pic>
        <p:nvPicPr>
          <p:cNvPr id="28" name="Fig 5.2 example output" descr="C:\Users\Juan.munoz\AppData\Local\Temp\claude\C--Users-Juan-munoz-Desktop-Jmr-tfm-memoria\6d0452c8-2f0a-46f5-9e7c-31797a7e3d61\scratchpad\deck\assets\en_fig5.2.png">    </p:cNvPr>
          <p:cNvPicPr>
            <a:picLocks noChangeAspect="1"/>
          </p:cNvPicPr>
          <p:nvPr/>
        </p:nvPicPr>
        <p:blipFill>
          <a:blip r:embed="rId7"/>
          <a:stretch>
            <a:fillRect/>
          </a:stretch>
        </p:blipFill>
        <p:spPr>
          <a:xfrm>
            <a:off x="6035040" y="3337560"/>
            <a:ext cx="5577840" cy="2479040"/>
          </a:xfrm>
          <a:prstGeom prst="rect">
            <a:avLst/>
          </a:prstGeom>
        </p:spPr>
      </p:pic>
      <p:sp>
        <p:nvSpPr>
          <p:cNvPr id="29" name="Text 20"/>
          <p:cNvSpPr txBox="1"/>
          <p:nvPr/>
        </p:nvSpPr>
        <p:spPr>
          <a:xfrm>
            <a:off x="6035040" y="5879592"/>
            <a:ext cx="5577840" cy="365760"/>
          </a:xfrm>
          <a:prstGeom prst="rect">
            <a:avLst/>
          </a:prstGeom>
          <a:noFill/>
          <a:ln/>
        </p:spPr>
        <p:txBody>
          <a:bodyPr wrap="square" lIns="0" tIns="0" rIns="0" bIns="0" rtlCol="0" anchor="t"/>
          <a:lstStyle/>
          <a:p>
            <a:pPr indent="0" marL="0">
              <a:buNone/>
            </a:pPr>
            <a:r>
              <a:rPr lang="en-US" sz="1000" i="1" dirty="0">
                <a:solidFill>
                  <a:schemeClr val="accent6"/>
                </a:solidFill>
              </a:rPr>
              <a:t>Example output: distance over time, take with all three continuity fixes (08/07).</a:t>
            </a:r>
            <a:endParaRPr lang="en-US" sz="10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Limitations and future work</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A working first result in one lab — with clear next steps.</a:t>
            </a:r>
            <a:endParaRPr lang="en-US" sz="1600" dirty="0"/>
          </a:p>
        </p:txBody>
      </p:sp>
      <p:sp>
        <p:nvSpPr>
          <p:cNvPr id="4" name="Shape 2"/>
          <p:cNvSpPr/>
          <p:nvPr/>
        </p:nvSpPr>
        <p:spPr>
          <a:xfrm>
            <a:off x="548640" y="1691640"/>
            <a:ext cx="5440680" cy="4526280"/>
          </a:xfrm>
          <a:prstGeom prst="roundRect">
            <a:avLst>
              <a:gd name="adj" fmla="val 2020"/>
            </a:avLst>
          </a:prstGeom>
          <a:solidFill>
            <a:schemeClr val="bg2"/>
          </a:solidFill>
          <a:ln w="9525">
            <a:solidFill>
              <a:schemeClr val="bg2"/>
            </a:solidFill>
            <a:prstDash val="solid"/>
          </a:ln>
        </p:spPr>
      </p:sp>
      <p:sp>
        <p:nvSpPr>
          <p:cNvPr id="5" name="Shape 3"/>
          <p:cNvSpPr/>
          <p:nvPr/>
        </p:nvSpPr>
        <p:spPr>
          <a:xfrm>
            <a:off x="822960" y="1920240"/>
            <a:ext cx="548640" cy="54864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54634" y="2051914"/>
            <a:ext cx="285293" cy="285293"/>
          </a:xfrm>
          <a:prstGeom prst="rect">
            <a:avLst/>
          </a:prstGeom>
        </p:spPr>
      </p:pic>
      <p:sp>
        <p:nvSpPr>
          <p:cNvPr id="7" name="Text 4"/>
          <p:cNvSpPr txBox="1"/>
          <p:nvPr/>
        </p:nvSpPr>
        <p:spPr>
          <a:xfrm>
            <a:off x="1554480" y="192024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Limitations</a:t>
            </a:r>
            <a:endParaRPr lang="en-US" sz="2000" dirty="0"/>
          </a:p>
        </p:txBody>
      </p:sp>
      <p:sp>
        <p:nvSpPr>
          <p:cNvPr id="8" name="Text 5"/>
          <p:cNvSpPr txBox="1"/>
          <p:nvPr/>
        </p:nvSpPr>
        <p:spPr>
          <a:xfrm>
            <a:off x="868680" y="2697480"/>
            <a:ext cx="4892040" cy="3429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The 2D LiDAR sees one plane (≈ 0.47 m): it missed a chair’s thin legs</a:t>
            </a:r>
            <a:endParaRPr lang="en-US" sz="1600" dirty="0"/>
          </a:p>
          <a:p>
            <a:pPr marL="342900" indent="-342900">
              <a:spcAft>
                <a:spcPts val="1200"/>
              </a:spcAft>
              <a:buSzPct val="100000"/>
              <a:buChar char="•"/>
            </a:pPr>
            <a:r>
              <a:rPr lang="en-US" sz="1600" dirty="0">
                <a:solidFill>
                  <a:schemeClr val="tx1"/>
                </a:solidFill>
              </a:rPr>
              <a:t>Small samples: Nav2 and the “home” gesture, one session each</a:t>
            </a:r>
            <a:endParaRPr lang="en-US" sz="1600" dirty="0"/>
          </a:p>
          <a:p>
            <a:pPr marL="342900" indent="-342900">
              <a:spcAft>
                <a:spcPts val="1200"/>
              </a:spcAft>
              <a:buSzPct val="100000"/>
              <a:buChar char="•"/>
            </a:pPr>
            <a:r>
              <a:rPr lang="en-US" sz="1600" dirty="0">
                <a:solidFill>
                  <a:schemeClr val="tx1"/>
                </a:solidFill>
              </a:rPr>
              <a:t>Localization next to obstacles caused both homing failures</a:t>
            </a:r>
            <a:endParaRPr lang="en-US" sz="1600" dirty="0"/>
          </a:p>
          <a:p>
            <a:pPr marL="342900" indent="-342900">
              <a:spcAft>
                <a:spcPts val="1200"/>
              </a:spcAft>
              <a:buSzPct val="100000"/>
              <a:buChar char="•"/>
            </a:pPr>
            <a:r>
              <a:rPr lang="en-US" sz="1600" dirty="0">
                <a:solidFill>
                  <a:schemeClr val="tx1"/>
                </a:solidFill>
              </a:rPr>
              <a:t>Reactive avoidance does not tell the person from an obstacle</a:t>
            </a:r>
            <a:endParaRPr lang="en-US" sz="1600" dirty="0"/>
          </a:p>
          <a:p>
            <a:pPr marL="342900" indent="-342900">
              <a:spcAft>
                <a:spcPts val="1200"/>
              </a:spcAft>
              <a:buSzPct val="100000"/>
              <a:buChar char="•"/>
            </a:pPr>
            <a:r>
              <a:rPr lang="en-US" sz="1600" dirty="0">
                <a:solidFill>
                  <a:schemeClr val="tx1"/>
                </a:solidFill>
              </a:rPr>
              <a:t>A single test environment (UJI robotics lab)</a:t>
            </a:r>
            <a:endParaRPr lang="en-US" sz="1600" dirty="0"/>
          </a:p>
        </p:txBody>
      </p:sp>
      <p:sp>
        <p:nvSpPr>
          <p:cNvPr id="9" name="Shape 6"/>
          <p:cNvSpPr/>
          <p:nvPr/>
        </p:nvSpPr>
        <p:spPr>
          <a:xfrm>
            <a:off x="6199632" y="1691640"/>
            <a:ext cx="5440680" cy="4526280"/>
          </a:xfrm>
          <a:prstGeom prst="roundRect">
            <a:avLst>
              <a:gd name="adj" fmla="val 2020"/>
            </a:avLst>
          </a:prstGeom>
          <a:solidFill>
            <a:schemeClr val="bg2"/>
          </a:solidFill>
          <a:ln w="9525">
            <a:solidFill>
              <a:schemeClr val="bg2"/>
            </a:solidFill>
            <a:prstDash val="solid"/>
          </a:ln>
        </p:spPr>
      </p:sp>
      <p:sp>
        <p:nvSpPr>
          <p:cNvPr id="10" name="Shape 7"/>
          <p:cNvSpPr/>
          <p:nvPr/>
        </p:nvSpPr>
        <p:spPr>
          <a:xfrm>
            <a:off x="6473952" y="1920240"/>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605626" y="2051914"/>
            <a:ext cx="285293" cy="285293"/>
          </a:xfrm>
          <a:prstGeom prst="rect">
            <a:avLst/>
          </a:prstGeom>
        </p:spPr>
      </p:pic>
      <p:sp>
        <p:nvSpPr>
          <p:cNvPr id="12" name="Text 8"/>
          <p:cNvSpPr txBox="1"/>
          <p:nvPr/>
        </p:nvSpPr>
        <p:spPr>
          <a:xfrm>
            <a:off x="7205472" y="192024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Future work</a:t>
            </a:r>
            <a:endParaRPr lang="en-US" sz="2000" dirty="0"/>
          </a:p>
        </p:txBody>
      </p:sp>
      <p:sp>
        <p:nvSpPr>
          <p:cNvPr id="13" name="Text 9"/>
          <p:cNvSpPr txBox="1"/>
          <p:nvPr/>
        </p:nvSpPr>
        <p:spPr>
          <a:xfrm>
            <a:off x="6519672" y="2697480"/>
            <a:ext cx="4892040" cy="3429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Guidance to several destinations: one gesture or QR code each (objectives 5 and 6)</a:t>
            </a:r>
            <a:endParaRPr lang="en-US" sz="1600" dirty="0"/>
          </a:p>
          <a:p>
            <a:pPr marL="342900" indent="-342900">
              <a:spcAft>
                <a:spcPts val="1200"/>
              </a:spcAft>
              <a:buSzPct val="100000"/>
              <a:buChar char="•"/>
            </a:pPr>
            <a:r>
              <a:rPr lang="en-US" sz="1600" dirty="0">
                <a:solidFill>
                  <a:schemeClr val="tx1"/>
                </a:solidFill>
              </a:rPr>
              <a:t>Exit manoeuvre before re-planning when localized next to an obstacle</a:t>
            </a:r>
            <a:endParaRPr lang="en-US" sz="1600" dirty="0"/>
          </a:p>
          <a:p>
            <a:pPr marL="342900" indent="-342900">
              <a:spcAft>
                <a:spcPts val="1200"/>
              </a:spcAft>
              <a:buSzPct val="100000"/>
              <a:buChar char="•"/>
            </a:pPr>
            <a:r>
              <a:rPr lang="en-US" sz="1600" dirty="0">
                <a:solidFill>
                  <a:schemeClr val="tx1"/>
                </a:solidFill>
              </a:rPr>
              <a:t>Orbbec Astra RGB-D camera or a second LiDAR for obstacles off the scan plane</a:t>
            </a:r>
            <a:endParaRPr lang="en-US" sz="1600" dirty="0"/>
          </a:p>
          <a:p>
            <a:pPr marL="342900" indent="-342900">
              <a:spcAft>
                <a:spcPts val="1200"/>
              </a:spcAft>
              <a:buSzPct val="100000"/>
              <a:buChar char="•"/>
            </a:pPr>
            <a:r>
              <a:rPr lang="en-US" sz="1600" dirty="0">
                <a:solidFill>
                  <a:schemeClr val="tx1"/>
                </a:solidFill>
              </a:rPr>
              <a:t>Connect collision_handling_node to control_node</a:t>
            </a:r>
            <a:endParaRPr lang="en-US" sz="1600" dirty="0"/>
          </a:p>
          <a:p>
            <a:pPr marL="342900" indent="-342900">
              <a:spcAft>
                <a:spcPts val="1200"/>
              </a:spcAft>
              <a:buSzPct val="100000"/>
              <a:buChar char="•"/>
            </a:pPr>
            <a:r>
              <a:rPr lang="en-US" sz="1600" dirty="0">
                <a:solidFill>
                  <a:schemeClr val="tx1"/>
                </a:solidFill>
              </a:rPr>
              <a:t>Tests with more people, environments and lighting</a:t>
            </a:r>
            <a:endParaRPr lang="en-US" sz="16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Conclusions</a:t>
            </a:r>
            <a:endParaRPr lang="en-US" sz="2800" dirty="0"/>
          </a:p>
        </p:txBody>
      </p:sp>
      <p:sp>
        <p:nvSpPr>
          <p:cNvPr id="3" name="Text 1"/>
          <p:cNvSpPr/>
          <p:nvPr>
            <p:ph idx="103"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The contribution is the integration: detection, tracking, navigation and gestures on one low-resource robot.</a:t>
            </a:r>
            <a:endParaRPr lang="en-US" sz="1600" dirty="0"/>
          </a:p>
        </p:txBody>
      </p:sp>
      <p:sp>
        <p:nvSpPr>
          <p:cNvPr id="4" name="Shape 2"/>
          <p:cNvSpPr/>
          <p:nvPr/>
        </p:nvSpPr>
        <p:spPr>
          <a:xfrm>
            <a:off x="548640" y="1737360"/>
            <a:ext cx="3566160" cy="3200400"/>
          </a:xfrm>
          <a:prstGeom prst="roundRect">
            <a:avLst>
              <a:gd name="adj" fmla="val 2857"/>
            </a:avLst>
          </a:prstGeom>
          <a:solidFill>
            <a:schemeClr val="bg2"/>
          </a:solidFill>
          <a:ln w="9525">
            <a:solidFill>
              <a:schemeClr val="bg2"/>
            </a:solidFill>
            <a:prstDash val="solid"/>
          </a:ln>
        </p:spPr>
      </p:sp>
      <p:sp>
        <p:nvSpPr>
          <p:cNvPr id="5" name="Text 3"/>
          <p:cNvSpPr txBox="1"/>
          <p:nvPr/>
        </p:nvSpPr>
        <p:spPr>
          <a:xfrm>
            <a:off x="822960" y="1920240"/>
            <a:ext cx="1371600" cy="731520"/>
          </a:xfrm>
          <a:prstGeom prst="rect">
            <a:avLst/>
          </a:prstGeom>
          <a:noFill/>
          <a:ln/>
        </p:spPr>
        <p:txBody>
          <a:bodyPr wrap="square" lIns="0" tIns="0" rIns="0" bIns="0" rtlCol="0" anchor="t"/>
          <a:lstStyle/>
          <a:p>
            <a:pPr indent="0" marL="0">
              <a:buNone/>
            </a:pPr>
            <a:r>
              <a:rPr lang="en-US" sz="4000" b="1" dirty="0">
                <a:solidFill>
                  <a:schemeClr val="accent1"/>
                </a:solidFill>
              </a:rPr>
              <a:t>01</a:t>
            </a:r>
            <a:endParaRPr lang="en-US" sz="4000" dirty="0"/>
          </a:p>
        </p:txBody>
      </p:sp>
      <p:sp>
        <p:nvSpPr>
          <p:cNvPr id="6" name="Text 4"/>
          <p:cNvSpPr txBox="1"/>
          <p:nvPr/>
        </p:nvSpPr>
        <p:spPr>
          <a:xfrm>
            <a:off x="822960" y="2697480"/>
            <a:ext cx="3063240" cy="457200"/>
          </a:xfrm>
          <a:prstGeom prst="rect">
            <a:avLst/>
          </a:prstGeom>
          <a:noFill/>
          <a:ln/>
        </p:spPr>
        <p:txBody>
          <a:bodyPr wrap="square" lIns="0" tIns="0" rIns="0" bIns="0" rtlCol="0" anchor="t"/>
          <a:lstStyle/>
          <a:p>
            <a:pPr indent="0" marL="0">
              <a:buNone/>
            </a:pPr>
            <a:r>
              <a:rPr lang="en-US" sz="1800" b="1" dirty="0">
                <a:solidFill>
                  <a:schemeClr val="tx2"/>
                </a:solidFill>
              </a:rPr>
              <a:t>Objectives</a:t>
            </a:r>
            <a:endParaRPr lang="en-US" sz="1800" dirty="0"/>
          </a:p>
        </p:txBody>
      </p:sp>
      <p:sp>
        <p:nvSpPr>
          <p:cNvPr id="7" name="Text 5"/>
          <p:cNvSpPr txBox="1"/>
          <p:nvPr/>
        </p:nvSpPr>
        <p:spPr>
          <a:xfrm>
            <a:off x="822960" y="3246120"/>
            <a:ext cx="3063240" cy="2011680"/>
          </a:xfrm>
          <a:prstGeom prst="rect">
            <a:avLst/>
          </a:prstGeom>
          <a:noFill/>
          <a:ln/>
        </p:spPr>
        <p:txBody>
          <a:bodyPr wrap="square" lIns="0" tIns="0" rIns="0" bIns="0" rtlCol="0" anchor="t"/>
          <a:lstStyle/>
          <a:p>
            <a:pPr indent="0" marL="0">
              <a:buNone/>
            </a:pPr>
            <a:r>
              <a:rPr lang="en-US" sz="1700" dirty="0">
                <a:solidFill>
                  <a:schemeClr val="tx1"/>
                </a:solidFill>
              </a:rPr>
              <a:t>4 of 5 specific objectives completed and validated on the real robot; the 5th, guidance, has a working first step.</a:t>
            </a:r>
            <a:endParaRPr lang="en-US" sz="1700" dirty="0"/>
          </a:p>
        </p:txBody>
      </p:sp>
      <p:sp>
        <p:nvSpPr>
          <p:cNvPr id="8" name="Shape 6"/>
          <p:cNvSpPr/>
          <p:nvPr/>
        </p:nvSpPr>
        <p:spPr>
          <a:xfrm>
            <a:off x="4297680" y="1737360"/>
            <a:ext cx="3566160" cy="3200400"/>
          </a:xfrm>
          <a:prstGeom prst="roundRect">
            <a:avLst>
              <a:gd name="adj" fmla="val 2857"/>
            </a:avLst>
          </a:prstGeom>
          <a:solidFill>
            <a:schemeClr val="bg2"/>
          </a:solidFill>
          <a:ln w="9525">
            <a:solidFill>
              <a:schemeClr val="bg2"/>
            </a:solidFill>
            <a:prstDash val="solid"/>
          </a:ln>
        </p:spPr>
      </p:sp>
      <p:sp>
        <p:nvSpPr>
          <p:cNvPr id="9" name="Text 7"/>
          <p:cNvSpPr txBox="1"/>
          <p:nvPr/>
        </p:nvSpPr>
        <p:spPr>
          <a:xfrm>
            <a:off x="4572000" y="1920240"/>
            <a:ext cx="1371600" cy="731520"/>
          </a:xfrm>
          <a:prstGeom prst="rect">
            <a:avLst/>
          </a:prstGeom>
          <a:noFill/>
          <a:ln/>
        </p:spPr>
        <p:txBody>
          <a:bodyPr wrap="square" lIns="0" tIns="0" rIns="0" bIns="0" rtlCol="0" anchor="t"/>
          <a:lstStyle/>
          <a:p>
            <a:pPr indent="0" marL="0">
              <a:buNone/>
            </a:pPr>
            <a:r>
              <a:rPr lang="en-US" sz="4000" b="1" dirty="0">
                <a:solidFill>
                  <a:schemeClr val="accent1"/>
                </a:solidFill>
              </a:rPr>
              <a:t>02</a:t>
            </a:r>
            <a:endParaRPr lang="en-US" sz="4000" dirty="0"/>
          </a:p>
        </p:txBody>
      </p:sp>
      <p:sp>
        <p:nvSpPr>
          <p:cNvPr id="10" name="Text 8"/>
          <p:cNvSpPr txBox="1"/>
          <p:nvPr/>
        </p:nvSpPr>
        <p:spPr>
          <a:xfrm>
            <a:off x="4572000" y="2697480"/>
            <a:ext cx="3063240" cy="457200"/>
          </a:xfrm>
          <a:prstGeom prst="rect">
            <a:avLst/>
          </a:prstGeom>
          <a:noFill/>
          <a:ln/>
        </p:spPr>
        <p:txBody>
          <a:bodyPr wrap="square" lIns="0" tIns="0" rIns="0" bIns="0" rtlCol="0" anchor="t"/>
          <a:lstStyle/>
          <a:p>
            <a:pPr indent="0" marL="0">
              <a:buNone/>
            </a:pPr>
            <a:r>
              <a:rPr lang="en-US" sz="1800" b="1" dirty="0">
                <a:solidFill>
                  <a:schemeClr val="tx2"/>
                </a:solidFill>
              </a:rPr>
              <a:t>Arbitration</a:t>
            </a:r>
            <a:endParaRPr lang="en-US" sz="1800" dirty="0"/>
          </a:p>
        </p:txBody>
      </p:sp>
      <p:sp>
        <p:nvSpPr>
          <p:cNvPr id="11" name="Text 9"/>
          <p:cNvSpPr txBox="1"/>
          <p:nvPr/>
        </p:nvSpPr>
        <p:spPr>
          <a:xfrm>
            <a:off x="4572000" y="3246120"/>
            <a:ext cx="3063240" cy="2011680"/>
          </a:xfrm>
          <a:prstGeom prst="rect">
            <a:avLst/>
          </a:prstGeom>
          <a:noFill/>
          <a:ln/>
        </p:spPr>
        <p:txBody>
          <a:bodyPr wrap="square" lIns="0" tIns="0" rIns="0" bIns="0" rtlCol="0" anchor="t"/>
          <a:lstStyle/>
          <a:p>
            <a:pPr indent="0" marL="0">
              <a:buNone/>
            </a:pPr>
            <a:r>
              <a:rPr lang="en-US" sz="1700" dirty="0">
                <a:solidFill>
                  <a:schemeClr val="tx1"/>
                </a:solidFill>
              </a:rPr>
              <a:t>control_node lets tracking and Nav2 coexist without interfering — and the user switches between them with a gesture.</a:t>
            </a:r>
            <a:endParaRPr lang="en-US" sz="1700" dirty="0"/>
          </a:p>
        </p:txBody>
      </p:sp>
      <p:sp>
        <p:nvSpPr>
          <p:cNvPr id="12" name="Shape 10"/>
          <p:cNvSpPr/>
          <p:nvPr/>
        </p:nvSpPr>
        <p:spPr>
          <a:xfrm>
            <a:off x="8046720" y="1737360"/>
            <a:ext cx="3566160" cy="3200400"/>
          </a:xfrm>
          <a:prstGeom prst="roundRect">
            <a:avLst>
              <a:gd name="adj" fmla="val 2857"/>
            </a:avLst>
          </a:prstGeom>
          <a:solidFill>
            <a:schemeClr val="bg2"/>
          </a:solidFill>
          <a:ln w="9525">
            <a:solidFill>
              <a:schemeClr val="bg2"/>
            </a:solidFill>
            <a:prstDash val="solid"/>
          </a:ln>
        </p:spPr>
      </p:sp>
      <p:sp>
        <p:nvSpPr>
          <p:cNvPr id="13" name="Text 11"/>
          <p:cNvSpPr txBox="1"/>
          <p:nvPr/>
        </p:nvSpPr>
        <p:spPr>
          <a:xfrm>
            <a:off x="8321040" y="1920240"/>
            <a:ext cx="1371600" cy="731520"/>
          </a:xfrm>
          <a:prstGeom prst="rect">
            <a:avLst/>
          </a:prstGeom>
          <a:noFill/>
          <a:ln/>
        </p:spPr>
        <p:txBody>
          <a:bodyPr wrap="square" lIns="0" tIns="0" rIns="0" bIns="0" rtlCol="0" anchor="t"/>
          <a:lstStyle/>
          <a:p>
            <a:pPr indent="0" marL="0">
              <a:buNone/>
            </a:pPr>
            <a:r>
              <a:rPr lang="en-US" sz="4000" b="1" dirty="0">
                <a:solidFill>
                  <a:schemeClr val="accent1"/>
                </a:solidFill>
              </a:rPr>
              <a:t>03</a:t>
            </a:r>
            <a:endParaRPr lang="en-US" sz="4000" dirty="0"/>
          </a:p>
        </p:txBody>
      </p:sp>
      <p:sp>
        <p:nvSpPr>
          <p:cNvPr id="14" name="Text 12"/>
          <p:cNvSpPr txBox="1"/>
          <p:nvPr/>
        </p:nvSpPr>
        <p:spPr>
          <a:xfrm>
            <a:off x="8321040" y="2697480"/>
            <a:ext cx="3063240" cy="457200"/>
          </a:xfrm>
          <a:prstGeom prst="rect">
            <a:avLst/>
          </a:prstGeom>
          <a:noFill/>
          <a:ln/>
        </p:spPr>
        <p:txBody>
          <a:bodyPr wrap="square" lIns="0" tIns="0" rIns="0" bIns="0" rtlCol="0" anchor="t"/>
          <a:lstStyle/>
          <a:p>
            <a:pPr indent="0" marL="0">
              <a:buNone/>
            </a:pPr>
            <a:r>
              <a:rPr lang="en-US" sz="1800" b="1" dirty="0">
                <a:solidFill>
                  <a:schemeClr val="tx2"/>
                </a:solidFill>
              </a:rPr>
              <a:t>Built for limited compute</a:t>
            </a:r>
            <a:endParaRPr lang="en-US" sz="1800" dirty="0"/>
          </a:p>
        </p:txBody>
      </p:sp>
      <p:sp>
        <p:nvSpPr>
          <p:cNvPr id="15" name="Text 13"/>
          <p:cNvSpPr txBox="1"/>
          <p:nvPr/>
        </p:nvSpPr>
        <p:spPr>
          <a:xfrm>
            <a:off x="8321040" y="3246120"/>
            <a:ext cx="3063240" cy="2011680"/>
          </a:xfrm>
          <a:prstGeom prst="rect">
            <a:avLst/>
          </a:prstGeom>
          <a:noFill/>
          <a:ln/>
        </p:spPr>
        <p:txBody>
          <a:bodyPr wrap="square" lIns="0" tIns="0" rIns="0" bIns="0" rtlCol="0" anchor="t"/>
          <a:lstStyle/>
          <a:p>
            <a:pPr indent="0" marL="0">
              <a:buNone/>
            </a:pPr>
            <a:r>
              <a:rPr lang="en-US" sz="1700" dirty="0">
                <a:solidFill>
                  <a:schemeClr val="tx1"/>
                </a:solidFill>
              </a:rPr>
              <a:t>Own DBSCAN on a KD-tree, asymmetric fusion without precise calibration, linear Kalman + Mahalanobis gate: ≈ 30% per core.</a:t>
            </a:r>
            <a:endParaRPr lang="en-US" sz="1700" dirty="0"/>
          </a:p>
        </p:txBody>
      </p:sp>
      <p:sp>
        <p:nvSpPr>
          <p:cNvPr id="16" name="Shape 14"/>
          <p:cNvSpPr/>
          <p:nvPr/>
        </p:nvSpPr>
        <p:spPr>
          <a:xfrm>
            <a:off x="548640" y="5257800"/>
            <a:ext cx="11064240" cy="777240"/>
          </a:xfrm>
          <a:prstGeom prst="roundRect">
            <a:avLst>
              <a:gd name="adj" fmla="val 11765"/>
            </a:avLst>
          </a:prstGeom>
          <a:solidFill>
            <a:schemeClr val="tx2"/>
          </a:solidFill>
          <a:ln w="9525">
            <a:solidFill>
              <a:schemeClr val="tx2"/>
            </a:solidFill>
            <a:prstDash val="solid"/>
          </a:ln>
        </p:spPr>
      </p:sp>
      <p:pic>
        <p:nvPicPr>
          <p:cNvPr id="17" name="Image 0" descr="preencoded.png">    </p:cNvPr>
          <p:cNvPicPr>
            <a:picLocks noChangeAspect="1"/>
          </p:cNvPicPr>
          <p:nvPr/>
        </p:nvPicPr>
        <p:blipFill>
          <a:blip r:embed="rId1"/>
          <a:stretch>
            <a:fillRect/>
          </a:stretch>
        </p:blipFill>
        <p:spPr>
          <a:xfrm>
            <a:off x="822960" y="5468112"/>
            <a:ext cx="365760" cy="365760"/>
          </a:xfrm>
          <a:prstGeom prst="rect">
            <a:avLst/>
          </a:prstGeom>
        </p:spPr>
      </p:pic>
      <p:sp>
        <p:nvSpPr>
          <p:cNvPr id="18" name="Text 15"/>
          <p:cNvSpPr txBox="1"/>
          <p:nvPr/>
        </p:nvSpPr>
        <p:spPr>
          <a:xfrm>
            <a:off x="1371600" y="5257800"/>
            <a:ext cx="10058400" cy="777240"/>
          </a:xfrm>
          <a:prstGeom prst="rect">
            <a:avLst/>
          </a:prstGeom>
          <a:noFill/>
          <a:ln/>
        </p:spPr>
        <p:txBody>
          <a:bodyPr wrap="square" lIns="0" tIns="0" rIns="0" bIns="0" rtlCol="0" anchor="ctr"/>
          <a:lstStyle/>
          <a:p>
            <a:pPr indent="0" marL="0">
              <a:buNone/>
            </a:pPr>
            <a:r>
              <a:rPr lang="en-US" sz="2000" i="1" dirty="0">
                <a:solidFill>
                  <a:schemeClr val="bg1"/>
                </a:solidFill>
              </a:rPr>
              <a:t>Main lesson: test on the real robot, and measure every change.</a:t>
            </a:r>
            <a:endParaRPr lang="en-US" sz="2000" dirty="0"/>
          </a:p>
        </p:txBody>
      </p:sp>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685800" y="1828800"/>
            <a:ext cx="10817352" cy="1280160"/>
          </a:xfrm>
          <a:prstGeom prst="rect">
            <a:avLst/>
          </a:prstGeom>
          <a:noFill/>
          <a:ln/>
        </p:spPr>
        <p:txBody>
          <a:bodyPr wrap="square" lIns="0" tIns="0" rIns="0" bIns="0" rtlCol="0" anchor="b"/>
          <a:lstStyle/>
          <a:p>
            <a:pPr algn="ctr" indent="0" marL="0">
              <a:buNone/>
            </a:pPr>
            <a:r>
              <a:rPr lang="en-US" sz="4800" b="1" dirty="0">
                <a:solidFill>
                  <a:schemeClr val="bg1"/>
                </a:solidFill>
              </a:rPr>
              <a:t>Thank you</a:t>
            </a:r>
            <a:endParaRPr lang="en-US" sz="4800" dirty="0"/>
          </a:p>
        </p:txBody>
      </p:sp>
      <p:sp>
        <p:nvSpPr>
          <p:cNvPr id="3" name="Text 0"/>
          <p:cNvSpPr/>
          <p:nvPr>
            <p:ph idx="102" type="body" hasCustomPrompt="1"/>
          </p:nvPr>
        </p:nvSpPr>
        <p:spPr>
          <a:xfrm>
            <a:off x="685800" y="3246120"/>
            <a:ext cx="10817352" cy="640080"/>
          </a:xfrm>
          <a:prstGeom prst="rect">
            <a:avLst/>
          </a:prstGeom>
          <a:noFill/>
          <a:ln/>
        </p:spPr>
        <p:txBody>
          <a:bodyPr wrap="square" lIns="0" tIns="0" rIns="0" bIns="0" rtlCol="0" anchor="t"/>
          <a:lstStyle/>
          <a:p>
            <a:pPr algn="ctr" indent="0" marL="0">
              <a:buNone/>
            </a:pPr>
            <a:r>
              <a:rPr lang="en-US" sz="2200" dirty="0">
                <a:solidFill>
                  <a:schemeClr val="accent4"/>
                </a:solidFill>
              </a:rPr>
              <a:t>Questions?</a:t>
            </a:r>
            <a:endParaRPr lang="en-US" sz="2200" dirty="0"/>
          </a:p>
        </p:txBody>
      </p:sp>
      <p:sp>
        <p:nvSpPr>
          <p:cNvPr id="4" name="Text 0"/>
          <p:cNvSpPr/>
          <p:nvPr>
            <p:ph idx="103" type="body" hasCustomPrompt="1"/>
          </p:nvPr>
        </p:nvSpPr>
        <p:spPr>
          <a:xfrm>
            <a:off x="685800" y="4206240"/>
            <a:ext cx="10817352" cy="914400"/>
          </a:xfrm>
          <a:prstGeom prst="rect">
            <a:avLst/>
          </a:prstGeom>
          <a:noFill/>
          <a:ln/>
        </p:spPr>
        <p:txBody>
          <a:bodyPr wrap="square" lIns="0" tIns="0" rIns="0" bIns="0" rtlCol="0" anchor="t"/>
          <a:lstStyle/>
          <a:p>
            <a:pPr algn="ctr" indent="0" marL="0">
              <a:buNone/>
            </a:pPr>
            <a:r>
              <a:rPr lang="en-US" sz="1400" dirty="0">
                <a:solidFill>
                  <a:schemeClr val="bg1"/>
                </a:solidFill>
              </a:rPr>
              <a:t>Juan Muñoz Rovira · Tutor: Enric Cervera Mateu</a:t>
            </a:r>
            <a:endParaRPr lang="en-US" sz="1400" dirty="0"/>
          </a:p>
          <a:p>
            <a:pPr algn="ctr" indent="0" marL="0">
              <a:buNone/>
            </a:pPr>
            <a:r>
              <a:rPr lang="en-US" sz="1400" dirty="0">
                <a:solidFill>
                  <a:schemeClr val="bg1"/>
                </a:solidFill>
              </a:rPr>
              <a:t>Code: github.com/juanitomuro1999/TFM_JUAN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control_node state machine</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Full finite-state machine (Fig. 3.3); the Q and P keys act from any state.</a:t>
            </a:r>
            <a:endParaRPr lang="en-US" sz="1600" dirty="0"/>
          </a:p>
        </p:txBody>
      </p:sp>
      <p:pic>
        <p:nvPicPr>
          <p:cNvPr id="4" name="Image 0" descr="C:\Users\Juan.munoz\AppData\Local\Temp\claude\C--Users-Juan-munoz-Desktop-Jmr-tfm-memoria\6d0452c8-2f0a-46f5-9e7c-31797a7e3d61\scratchpad\deck\assets\en_fig3.3.png">    </p:cNvPr>
          <p:cNvPicPr>
            <a:picLocks noChangeAspect="1"/>
          </p:cNvPicPr>
          <p:nvPr/>
        </p:nvPicPr>
        <p:blipFill>
          <a:blip r:embed="rId1"/>
          <a:stretch>
            <a:fillRect/>
          </a:stretch>
        </p:blipFill>
        <p:spPr>
          <a:xfrm>
            <a:off x="2438248" y="1645920"/>
            <a:ext cx="7315200" cy="4572000"/>
          </a:xfrm>
          <a:prstGeom prst="rect">
            <a:avLst/>
          </a:prstGeom>
        </p:spPr>
      </p:pic>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Nav2 architecture</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Four layers; Nav2’s velocity is remapped and only reaches the base through control_node in HOMING.</a:t>
            </a:r>
            <a:endParaRPr lang="en-US" sz="1600" dirty="0"/>
          </a:p>
        </p:txBody>
      </p:sp>
      <p:pic>
        <p:nvPicPr>
          <p:cNvPr id="4" name="Image 0" descr="C:\Users\Juan.munoz\AppData\Local\Temp\claude\C--Users-Juan-munoz-Desktop-Jmr-tfm-memoria\6d0452c8-2f0a-46f5-9e7c-31797a7e3d61\scratchpad\deck\assets\en_fig3.6.png">    </p:cNvPr>
          <p:cNvPicPr>
            <a:picLocks noChangeAspect="1"/>
          </p:cNvPicPr>
          <p:nvPr/>
        </p:nvPicPr>
        <p:blipFill>
          <a:blip r:embed="rId1"/>
          <a:stretch>
            <a:fillRect/>
          </a:stretch>
        </p:blipFill>
        <p:spPr>
          <a:xfrm>
            <a:off x="3014125" y="1645920"/>
            <a:ext cx="6163445" cy="4526280"/>
          </a:xfrm>
          <a:prstGeom prst="rect">
            <a:avLst/>
          </a:prstGeom>
        </p:spPr>
      </p:pic>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Per-scenario repetitions (22/07)</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Stabilized system, five scenarios without collision risk (Table 5.3).</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834640"/>
                <a:gridCol w="1051560"/>
                <a:gridCol w="1143000"/>
                <a:gridCol w="1097280"/>
                <a:gridCol w="1097280"/>
                <a:gridCol w="914400"/>
                <a:gridCol w="1463040"/>
                <a:gridCol w="1463040"/>
              </a:tblGrid>
              <a:tr h="365760">
                <a:tc>
                  <a:txBody>
                    <a:bodyPr/>
                    <a:lstStyle/>
                    <a:p>
                      <a:pPr indent="0" marL="0">
                        <a:buNone/>
                      </a:pPr>
                      <a:r>
                        <a:rPr lang="en-US" sz="1300" b="1" dirty="0">
                          <a:solidFill>
                            <a:srgbClr val="FFFFFF"/>
                          </a:solidFill>
                        </a:rPr>
                        <a:t>Scenario</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Duration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MAE dist.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Mean ang.</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 detec.</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Losses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Jumps &gt; 0.8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Stable sat.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r>
              <a:tr h="365760">
                <a:tc>
                  <a:txBody>
                    <a:bodyPr/>
                    <a:lstStyle/>
                    <a:p>
                      <a:pPr indent="0" marL="0">
                        <a:buNone/>
                      </a:pPr>
                      <a:r>
                        <a:rPr lang="en-US" sz="1300" dirty="0">
                          <a:solidFill>
                            <a:srgbClr val="1B2333"/>
                          </a:solidFill>
                        </a:rPr>
                        <a:t>Straight (contaminated)</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41.4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0.626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62.0°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76.2%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7</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6.8%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13.8%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Straight (clean)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25.9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0.420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26.5°</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2.3%</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Curve #1</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33.5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0.794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14.5°</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6.8%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Curve #2 (short)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12.2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0.759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23.7°</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97.1%</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20.8%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Curve #3</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14.3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0.976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6.2°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0.9%</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Stop</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36.5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0.326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5.9°</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Short #1 (min. 0.15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32.5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0.443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32.8°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25.1%</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Short #2 (min. 0.42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8.4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0.628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4.9°</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98.8%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0.9%</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Short #3 (min. 0.02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18.7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0.508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46.8°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28.6%</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rPr>
                        <a:t>Occlusion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30.6 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0.678 m</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16.2°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2.5%</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1.5%</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Obstacle scenario (22–23/07)</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From light contacts to contact-free avoidance with furniture (Table 5.4).</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377440"/>
                <a:gridCol w="4297680"/>
                <a:gridCol w="4389120"/>
              </a:tblGrid>
              <a:tr h="502920">
                <a:tc>
                  <a:txBody>
                    <a:bodyPr/>
                    <a:lstStyle/>
                    <a:p>
                      <a:pPr indent="0" marL="0">
                        <a:buNone/>
                      </a:pPr>
                      <a:r>
                        <a:rPr lang="en-US" sz="1300" b="1" dirty="0">
                          <a:solidFill>
                            <a:srgbClr val="FFFFFF"/>
                          </a:solidFill>
                        </a:rPr>
                        <a:t>Take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Configuration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Result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r>
              <a:tr h="502920">
                <a:tc>
                  <a:txBody>
                    <a:bodyPr/>
                    <a:lstStyle/>
                    <a:p>
                      <a:pPr indent="0" marL="0">
                        <a:buNone/>
                      </a:pPr>
                      <a:r>
                        <a:rPr lang="en-US" sz="1300" dirty="0">
                          <a:solidFill>
                            <a:srgbClr val="1B2333"/>
                          </a:solidFill>
                        </a:rPr>
                        <a:t>v3, v4 (furniture)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Safety threshold raised; slow-down factor unfixed</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Light contact: the factor never reached zero, no full stop</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333"/>
                          </a:solidFill>
                        </a:rPr>
                        <a:t>v5 (furniture)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Factor fixed: real ramp to zero between warning and stop thresholds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 contact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333"/>
                          </a:solidFill>
                        </a:rPr>
                        <a:t>v6 (furniture + chair)</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Same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 contact (the chair did not trigger avoidance)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333"/>
                          </a:solidFill>
                        </a:rPr>
                        <a:t>v7 (furniture + chair)</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 detour manoeuvre (tight turn + short advance)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 contact; manoeuvre triggered 4 times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333"/>
                          </a:solidFill>
                        </a:rPr>
                        <a:t>v8 (furniture + chair)</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Same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Furniture avoided; contact with the chair (not seen by the LiDAR)</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333"/>
                          </a:solidFill>
                        </a:rPr>
                        <a:t>v9 (furniture, 23/07)</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 code changes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 contact — confirmed in a different session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Reference frames (TF)</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map → odom → base_footprint → laser; the LiDAR is mounted rotated 180° about z.</a:t>
            </a:r>
            <a:endParaRPr lang="en-US" sz="1600" dirty="0"/>
          </a:p>
        </p:txBody>
      </p:sp>
      <p:pic>
        <p:nvPicPr>
          <p:cNvPr id="4" name="Image 0" descr="C:\Users\Juan.munoz\AppData\Local\Temp\claude\C--Users-Juan-munoz-Desktop-Jmr-tfm-memoria\6d0452c8-2f0a-46f5-9e7c-31797a7e3d61\scratchpad\deck\assets\en_fig3.4.png">    </p:cNvPr>
          <p:cNvPicPr>
            <a:picLocks noChangeAspect="1"/>
          </p:cNvPicPr>
          <p:nvPr/>
        </p:nvPicPr>
        <p:blipFill>
          <a:blip r:embed="rId1"/>
          <a:stretch>
            <a:fillRect/>
          </a:stretch>
        </p:blipFill>
        <p:spPr>
          <a:xfrm>
            <a:off x="2220769" y="1645920"/>
            <a:ext cx="7750158" cy="4480560"/>
          </a:xfrm>
          <a:prstGeom prst="rect">
            <a:avLst/>
          </a:prstGeom>
        </p:spPr>
      </p:pic>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Planning and cost estimate</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Five phases, ≈ 350 h (14 ECTS); hardware already available in the lab.</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914400"/>
        </p:xfrm>
        <a:graphic>
          <a:graphicData uri="http://schemas.openxmlformats.org/drawingml/2006/table">
            <a:tbl>
              <a:tblPr/>
              <a:tblGrid>
                <a:gridCol w="640080"/>
                <a:gridCol w="3749040"/>
                <a:gridCol w="1463040"/>
                <a:gridCol w="822960"/>
              </a:tblGrid>
              <a:tr h="457200">
                <a:tc>
                  <a:txBody>
                    <a:bodyPr/>
                    <a:lstStyle/>
                    <a:p>
                      <a:pPr indent="0" marL="0">
                        <a:buNone/>
                      </a:pPr>
                      <a:r>
                        <a:rPr lang="en-US" sz="1300" b="1" dirty="0">
                          <a:solidFill>
                            <a:srgbClr val="FFFFFF"/>
                          </a:solidFill>
                        </a:rPr>
                        <a:t>Phase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Description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Period</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Hours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r>
              <a:tr h="457200">
                <a:tc>
                  <a:txBody>
                    <a:bodyPr/>
                    <a:lstStyle/>
                    <a:p>
                      <a:pPr indent="0" marL="0">
                        <a:buNone/>
                      </a:pPr>
                      <a:r>
                        <a:rPr lang="en-US" sz="1300" dirty="0">
                          <a:solidFill>
                            <a:srgbClr val="1B2333"/>
                          </a:solidFill>
                        </a:rPr>
                        <a:t>1</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Definition, review of the prior system, initial drafting</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May 2026</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50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333"/>
                          </a:solidFill>
                        </a:rPr>
                        <a:t>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Gestures, SLAM integration, sensor fusion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June 2026</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80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333"/>
                          </a:solidFill>
                        </a:rPr>
                        <a:t>3</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Autonomous navigation with Nav2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July 2026</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50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333"/>
                          </a:solidFill>
                        </a:rPr>
                        <a:t>4</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Validation in the lab and “home” gesture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June–Sept. 2026</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80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333"/>
                          </a:solidFill>
                        </a:rPr>
                        <a:t>5</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Closing, report and defense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Aug.–Oct. 2026</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7498080" y="1691640"/>
          <a:ext cx="4114800" cy="914400"/>
        </p:xfrm>
        <a:graphic>
          <a:graphicData uri="http://schemas.openxmlformats.org/drawingml/2006/table">
            <a:tbl>
              <a:tblPr/>
              <a:tblGrid>
                <a:gridCol w="2926080"/>
                <a:gridCol w="1188720"/>
              </a:tblGrid>
              <a:tr h="384048">
                <a:tc>
                  <a:txBody>
                    <a:bodyPr/>
                    <a:lstStyle/>
                    <a:p>
                      <a:pPr indent="0" marL="0">
                        <a:buNone/>
                      </a:pPr>
                      <a:r>
                        <a:rPr lang="en-US" sz="1300" b="1" dirty="0">
                          <a:solidFill>
                            <a:srgbClr val="FFFFFF"/>
                          </a:solidFill>
                        </a:rPr>
                        <a:t>Item (5 months of depreciation)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Cost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r>
              <a:tr h="384048">
                <a:tc>
                  <a:txBody>
                    <a:bodyPr/>
                    <a:lstStyle/>
                    <a:p>
                      <a:pPr indent="0" marL="0">
                        <a:buNone/>
                      </a:pPr>
                      <a:r>
                        <a:rPr lang="en-US" sz="1300" dirty="0">
                          <a:solidFill>
                            <a:srgbClr val="1B2333"/>
                          </a:solidFill>
                        </a:rPr>
                        <a:t>TurtleBot 2 (Kobuki + frame)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 €83</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RPLIDAR A2M8</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 €32</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Intel NUC</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 €33</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RGB camera</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 €3</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Software (open source)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Personnel (350 h × €15/h)</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€5,250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333"/>
                          </a:solidFill>
                        </a:rPr>
                        <a:t>Approximate total</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b="1" dirty="0">
                          <a:solidFill>
                            <a:srgbClr val="1B2333"/>
                          </a:solidFill>
                        </a:rPr>
                        <a:t>≈ €5,400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2800" b="1" dirty="0">
                <a:solidFill>
                  <a:schemeClr val="tx2"/>
                </a:solidFill>
              </a:rPr>
              <a:t>Use of AI tools (Appendix A)</a:t>
            </a:r>
            <a:endParaRPr lang="en-US" sz="2800" dirty="0"/>
          </a:p>
        </p:txBody>
      </p:sp>
      <p:sp>
        <p:nvSpPr>
          <p:cNvPr id="3" name="Text 2"/>
          <p:cNvSpPr/>
          <p:nvPr>
            <p:ph idx="104" type="body" hasCustomPrompt="1"/>
          </p:nvPr>
        </p:nvSpPr>
        <p:spPr>
          <a:xfrm>
            <a:off x="548640" y="1005840"/>
            <a:ext cx="11091672" cy="420624"/>
          </a:xfrm>
          <a:prstGeom prst="rect">
            <a:avLst/>
          </a:prstGeom>
          <a:noFill/>
          <a:ln/>
        </p:spPr>
        <p:txBody>
          <a:bodyPr wrap="square" lIns="0" tIns="0" rIns="0" bIns="0" rtlCol="0" anchor="t"/>
          <a:lstStyle/>
          <a:p>
            <a:pPr algn="l" indent="0" marL="0">
              <a:buNone/>
            </a:pPr>
            <a:r>
              <a:rPr lang="en-US" sz="1600" i="1" dirty="0">
                <a:solidFill>
                  <a:schemeClr val="accent1"/>
                </a:solidFill>
              </a:rPr>
              <a:t>Technical support; design, experiments and interpretation by the author.</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517904" y="1691640"/>
          <a:ext cx="9144000" cy="914400"/>
        </p:xfrm>
        <a:graphic>
          <a:graphicData uri="http://schemas.openxmlformats.org/drawingml/2006/table">
            <a:tbl>
              <a:tblPr/>
              <a:tblGrid>
                <a:gridCol w="3840480"/>
                <a:gridCol w="1645920"/>
                <a:gridCol w="3657600"/>
              </a:tblGrid>
              <a:tr h="384048">
                <a:tc>
                  <a:txBody>
                    <a:bodyPr/>
                    <a:lstStyle/>
                    <a:p>
                      <a:pPr indent="0" marL="0">
                        <a:buNone/>
                      </a:pPr>
                      <a:r>
                        <a:rPr lang="en-US" sz="1300" b="1" dirty="0">
                          <a:solidFill>
                            <a:srgbClr val="FFFFFF"/>
                          </a:solidFill>
                        </a:rPr>
                        <a:t>Task</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By the author</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c>
                  <a:txBody>
                    <a:bodyPr/>
                    <a:lstStyle/>
                    <a:p>
                      <a:pPr indent="0" marL="0">
                        <a:buNone/>
                      </a:pPr>
                      <a:r>
                        <a:rPr lang="en-US" sz="1300" b="1" dirty="0">
                          <a:solidFill>
                            <a:srgbClr val="FFFFFF"/>
                          </a:solidFill>
                        </a:rPr>
                        <a:t>AI support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1B2A47"/>
                    </a:solidFill>
                  </a:tcPr>
                </a:tc>
              </a:tr>
              <a:tr h="384048">
                <a:tc>
                  <a:txBody>
                    <a:bodyPr/>
                    <a:lstStyle/>
                    <a:p>
                      <a:pPr indent="0" marL="0">
                        <a:buNone/>
                      </a:pPr>
                      <a:r>
                        <a:rPr lang="en-US" sz="1300" dirty="0">
                          <a:solidFill>
                            <a:srgbClr val="1B2333"/>
                          </a:solidFill>
                        </a:rPr>
                        <a:t>System architecture design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None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DBSCAN for leg detection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Debugging</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Kalman filter (tracking_node)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None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control_node state machine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None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Package configuration errors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60%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Diagnosis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Physical robot bring-up</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90%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Log diagnosis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Writing of the report</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70%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Rephrasing and style revision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Preparation of the figures</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40%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Design and drawing from code and recorded data</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33"/>
                          </a:solidFill>
                        </a:rPr>
                        <a:t>Experiments and validation</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100%</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rPr>
                        <a:t>None</a:t>
                      </a:r>
                      <a:endParaRPr lang="en-US" sz="1300" dirty="0"/>
                    </a:p>
                  </a:txBody>
                  <a:tcPr marL="73152" marR="73152" marT="36576" marB="36576" anchor="ctr">
                    <a:lnL w="6350" cap="flat" cmpd="sng" algn="ctr">
                      <a:solidFill>
                        <a:srgbClr val="C9D3D1"/>
                      </a:solidFill>
                      <a:prstDash val="solid"/>
                      <a:round/>
                      <a:headEnd type="none" w="med" len="med"/>
                      <a:tailEnd type="none" w="med" len="med"/>
                    </a:lnL>
                    <a:lnR w="6350" cap="flat" cmpd="sng" algn="ctr">
                      <a:solidFill>
                        <a:srgbClr val="C9D3D1"/>
                      </a:solidFill>
                      <a:prstDash val="solid"/>
                      <a:round/>
                      <a:headEnd type="none" w="med" len="med"/>
                      <a:tailEnd type="none" w="med" len="med"/>
                    </a:lnR>
                    <a:lnT w="6350" cap="flat" cmpd="sng" algn="ctr">
                      <a:solidFill>
                        <a:srgbClr val="C9D3D1"/>
                      </a:solidFill>
                      <a:prstDash val="solid"/>
                      <a:round/>
                      <a:headEnd type="none" w="med" len="med"/>
                      <a:tailEnd type="none" w="med" len="med"/>
                    </a:lnT>
                    <a:lnB w="6350" cap="flat" cmpd="sng" algn="ctr">
                      <a:solidFill>
                        <a:srgbClr val="C9D3D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TFM Defense">
  <a:themeElements>
    <a:clrScheme name="TFM Defense">
      <a:dk1>
        <a:srgbClr val="1B2333"/>
      </a:dk1>
      <a:lt1>
        <a:srgbClr val="FFFFFF"/>
      </a:lt1>
      <a:dk2>
        <a:srgbClr val="1B2A47"/>
      </a:dk2>
      <a:lt2>
        <a:srgbClr val="EEF3F2"/>
      </a:lt2>
      <a:accent1>
        <a:srgbClr val="0E7A70"/>
      </a:accent1>
      <a:accent2>
        <a:srgbClr val="D98E04"/>
      </a:accent2>
      <a:accent3>
        <a:srgbClr val="F3E3C3"/>
      </a:accent3>
      <a:accent4>
        <a:srgbClr val="D6EAE6"/>
      </a:accent4>
      <a:accent5>
        <a:srgbClr val="C0392B"/>
      </a:accent5>
      <a:accent6>
        <a:srgbClr val="6B7A90"/>
      </a:accent6>
      <a:hlink>
        <a:srgbClr val="0E7A70"/>
      </a:hlink>
      <a:folHlink>
        <a:srgbClr val="6B7A90"/>
      </a:folHlink>
    </a:clrScheme>
    <a:fontScheme name="TFM Defen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Person-Following System on a Mobile Robot – Part 2 Extension (Master's Thesis defense)</dc:title>
  <dc:subject>Master's Thesis defense, Master's Degree in Intelligent Systems, Universitat Jaume I</dc:subject>
  <dc:creator>Juan Muñoz Rovira</dc:creator>
  <cp:lastModifiedBy>Juan Muñoz Rovira</cp:lastModifiedBy>
  <cp:revision>1</cp:revision>
  <dcterms:created xsi:type="dcterms:W3CDTF">2026-10-26T14:19:41Z</dcterms:created>
  <dcterms:modified xsi:type="dcterms:W3CDTF">2026-10-26T14:19:41Z</dcterms:modified>
</cp:coreProperties>
</file>